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4"/>
    <p:sldId id="269" r:id="rId15"/>
    <p:sldId id="270" r:id="rId16"/>
    <p:sldId id="271" r:id="rId17"/>
    <p:sldId id="272" r:id="rId18"/>
    <p:sldId id="273" r:id="rId19"/>
    <p:sldId id="277" r:id="rId23"/>
    <p:sldId id="278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8" d="100"/>
          <a:sy n="98" d="100"/>
        </p:scale>
        <p:origin x="82" y="32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85800" y="1234440"/>
            <a:ext cx="1078992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>
                <a:solidFill>
                  <a:srgbClr val="142337"/>
                </a:solidFill>
                <a:latin typeface="Aptos"/>
              </a:rPr>
              <a:t>Centralized Egress Traffic Filtering
Using Azure Firewall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46120"/>
            <a:ext cx="77724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142337"/>
                </a:solidFill>
                <a:latin typeface="Aptos"/>
              </a:rPr>
              <a:t>Azure network security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86200"/>
            <a:ext cx="104241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142337"/>
                </a:solidFill>
                <a:latin typeface="Aptos"/>
              </a:rPr>
              <a:t>Centralize outbound Internet access • enforce policy • inspect traffic • monitor egress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897880"/>
            <a:ext cx="3657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42337"/>
                </a:solidFill>
                <a:latin typeface="Aptos"/>
              </a:rPr>
              <a:t>Project Presentation</a:t>
            </a:r>
          </a:p>
        </p:txBody>
      </p:sp>
      <p:sp>
        <p:nvSpPr>
          <p:cNvPr id="7" name="Oval 6"/>
          <p:cNvSpPr/>
          <p:nvPr/>
        </p:nvSpPr>
        <p:spPr>
          <a:xfrm>
            <a:off x="10424160" y="-594360"/>
            <a:ext cx="2194560" cy="2194560"/>
          </a:xfrm>
          <a:prstGeom prst="ellipse">
            <a:avLst/>
          </a:prstGeom>
          <a:solidFill>
            <a:srgbClr val="307D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-640080" y="5989320"/>
            <a:ext cx="1828800" cy="1828800"/>
          </a:xfrm>
          <a:prstGeom prst="ellipse">
            <a:avLst/>
          </a:prstGeom>
          <a:solidFill>
            <a:srgbClr val="4D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438912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142337"/>
                </a:solidFill>
                <a:latin typeface="Aptos"/>
              </a:rPr>
              <a:t>AZURE NETWORK SECURITY</a:t>
            </a:r>
          </a:p>
        </p:txBody>
      </p:sp>
      <p:sp>
        <p:nvSpPr>
          <p:cNvPr id="10" name="Oval 9"/>
          <p:cNvSpPr/>
          <p:nvPr/>
        </p:nvSpPr>
        <p:spPr>
          <a:xfrm>
            <a:off x="8366760" y="1965960"/>
            <a:ext cx="310896" cy="310896"/>
          </a:xfrm>
          <a:prstGeom prst="ellipse">
            <a:avLst/>
          </a:prstGeom>
          <a:solidFill>
            <a:srgbClr val="4D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646920" y="1508760"/>
            <a:ext cx="310896" cy="310896"/>
          </a:xfrm>
          <a:prstGeom prst="ellipse">
            <a:avLst/>
          </a:prstGeom>
          <a:solidFill>
            <a:srgbClr val="4D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 flipV="1">
            <a:off x="8522208" y="1664207"/>
            <a:ext cx="1280160" cy="457201"/>
          </a:xfrm>
          <a:prstGeom prst="line">
            <a:avLst/>
          </a:prstGeom>
          <a:ln w="15240">
            <a:solidFill>
              <a:srgbClr val="4DB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10744200" y="2240280"/>
            <a:ext cx="310896" cy="310896"/>
          </a:xfrm>
          <a:prstGeom prst="ellipse">
            <a:avLst/>
          </a:prstGeom>
          <a:solidFill>
            <a:srgbClr val="4D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9802368" y="1664207"/>
            <a:ext cx="1097280" cy="731521"/>
          </a:xfrm>
          <a:prstGeom prst="line">
            <a:avLst/>
          </a:prstGeom>
          <a:ln w="15240">
            <a:solidFill>
              <a:srgbClr val="4DB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955279" y="2788920"/>
            <a:ext cx="3383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142337"/>
                </a:solidFill>
                <a:latin typeface="Aptos"/>
              </a:rPr>
              <a:t>SECURE  •  CENTRALIZED  •  SCALABLE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94360" y="6446520"/>
            <a:ext cx="1417320" cy="0"/>
          </a:xfrm>
          <a:prstGeom prst="line">
            <a:avLst/>
          </a:prstGeom>
          <a:ln w="8890">
            <a:solidFill>
              <a:srgbClr val="4DB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103120" y="6382512"/>
            <a:ext cx="27432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42337"/>
                </a:solidFill>
                <a:latin typeface="Aptos"/>
              </a:rPr>
              <a:t>AZURE FIREWALL • EGRESS FILTERING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42337"/>
                </a:solidFill>
                <a:latin typeface="Aptos"/>
              </a:rPr>
              <a:t>Team Members &amp; Roles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128016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142337"/>
                </a:solidFill>
                <a:latin typeface="Aptos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51560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142337"/>
                </a:solidFill>
                <a:latin typeface="Aptos"/>
              </a:rPr>
              <a:t>TEAM MEMBERS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7805047"/>
              </p:ext>
            </p:extLst>
          </p:nvPr>
        </p:nvGraphicFramePr>
        <p:xfrm>
          <a:off x="731520" y="1600200"/>
          <a:ext cx="10698479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980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dirty="0"/>
                        <a:t>Member</a:t>
                      </a:r>
                    </a:p>
                  </a:txBody>
                  <a:tcPr marL="54864" marR="54864" marT="36576" marB="36576">
                    <a:solidFill>
                      <a:srgbClr val="1426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Role / Responsibility</a:t>
                      </a:r>
                    </a:p>
                  </a:txBody>
                  <a:tcPr marL="54864" marR="54864" marT="36576" marB="36576">
                    <a:solidFill>
                      <a:srgbClr val="1426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rPr lang="en-US" sz="1500" b="0" i="0" kern="1200" dirty="0">
                          <a:solidFill>
                            <a:srgbClr val="232D37"/>
                          </a:solidFill>
                          <a:effectLst/>
                          <a:latin typeface="Aptos"/>
                          <a:ea typeface="+mn-ea"/>
                          <a:cs typeface="+mn-cs"/>
                        </a:rPr>
                        <a:t>JALADI REVANTH</a:t>
                      </a:r>
                      <a:endParaRPr dirty="0"/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Azure network &amp; VNet configuration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rPr lang="en-US" sz="1500" b="0" i="0" kern="1200" dirty="0">
                          <a:solidFill>
                            <a:srgbClr val="232D37"/>
                          </a:solidFill>
                          <a:effectLst/>
                          <a:latin typeface="Aptos"/>
                          <a:ea typeface="+mn-ea"/>
                          <a:cs typeface="+mn-cs"/>
                        </a:rPr>
                        <a:t>CHINAPOTHULA VINAY</a:t>
                      </a:r>
                      <a:endParaRPr dirty="0"/>
                    </a:p>
                  </a:txBody>
                  <a:tcPr marL="54864" marR="54864" marT="36576" marB="36576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Azure Firewall &amp; policy rules</a:t>
                      </a:r>
                    </a:p>
                  </a:txBody>
                  <a:tcPr marL="54864" marR="54864" marT="36576" marB="36576">
                    <a:solidFill>
                      <a:srgbClr val="F7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rPr lang="en-US" sz="1500" b="0" i="0" kern="1200" dirty="0">
                          <a:solidFill>
                            <a:srgbClr val="232D37"/>
                          </a:solidFill>
                          <a:effectLst/>
                          <a:latin typeface="Aptos"/>
                          <a:ea typeface="+mn-ea"/>
                          <a:cs typeface="+mn-cs"/>
                        </a:rPr>
                        <a:t>KUNCHARAPU SURYA DEV</a:t>
                      </a:r>
                      <a:endParaRPr dirty="0"/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t>Routing / UDR and connectivity testing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rPr lang="en-US" sz="1500" b="0" i="0" kern="1200" dirty="0">
                          <a:solidFill>
                            <a:srgbClr val="232D37"/>
                          </a:solidFill>
                          <a:effectLst/>
                          <a:latin typeface="Aptos"/>
                          <a:ea typeface="+mn-ea"/>
                          <a:cs typeface="+mn-cs"/>
                        </a:rPr>
                        <a:t>KOLETI KUNDHANA SIRI</a:t>
                      </a:r>
                      <a:endParaRPr dirty="0"/>
                    </a:p>
                  </a:txBody>
                  <a:tcPr marL="54864" marR="54864" marT="36576" marB="36576"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32D37"/>
                          </a:solidFill>
                          <a:latin typeface="Aptos"/>
                        </a:defRPr>
                      </a:pPr>
                      <a:r>
                        <a:rPr dirty="0"/>
                        <a:t>Monitoring, logging &amp; documentation</a:t>
                      </a:r>
                    </a:p>
                  </a:txBody>
                  <a:tcPr marL="54864" marR="54864" marT="36576" marB="36576">
                    <a:solidFill>
                      <a:srgbClr val="F7FA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Oval 7"/>
          <p:cNvSpPr/>
          <p:nvPr/>
        </p:nvSpPr>
        <p:spPr>
          <a:xfrm>
            <a:off x="10424160" y="-594360"/>
            <a:ext cx="2194560" cy="2194560"/>
          </a:xfrm>
          <a:prstGeom prst="ellipse">
            <a:avLst/>
          </a:prstGeom>
          <a:solidFill>
            <a:srgbClr val="307D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-640080" y="5989320"/>
            <a:ext cx="1828800" cy="1828800"/>
          </a:xfrm>
          <a:prstGeom prst="ellipse">
            <a:avLst/>
          </a:prstGeom>
          <a:solidFill>
            <a:srgbClr val="4D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9738360" y="256032"/>
            <a:ext cx="502920" cy="228600"/>
          </a:xfrm>
          <a:prstGeom prst="line">
            <a:avLst/>
          </a:prstGeom>
          <a:ln w="10160">
            <a:solidFill>
              <a:srgbClr val="4DB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0241280" y="256032"/>
            <a:ext cx="502920" cy="228600"/>
          </a:xfrm>
          <a:prstGeom prst="line">
            <a:avLst/>
          </a:prstGeom>
          <a:ln w="10160">
            <a:solidFill>
              <a:srgbClr val="4DB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10451592" y="256032"/>
            <a:ext cx="292608" cy="457200"/>
          </a:xfrm>
          <a:prstGeom prst="line">
            <a:avLst/>
          </a:prstGeom>
          <a:ln w="10160">
            <a:solidFill>
              <a:srgbClr val="4DB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9697212" y="214884"/>
            <a:ext cx="82296" cy="82296"/>
          </a:xfrm>
          <a:prstGeom prst="ellipse">
            <a:avLst/>
          </a:prstGeom>
          <a:solidFill>
            <a:srgbClr val="4D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200132" y="443484"/>
            <a:ext cx="82296" cy="82296"/>
          </a:xfrm>
          <a:prstGeom prst="ellipse">
            <a:avLst/>
          </a:prstGeom>
          <a:solidFill>
            <a:srgbClr val="4D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703052" y="214884"/>
            <a:ext cx="82296" cy="82296"/>
          </a:xfrm>
          <a:prstGeom prst="ellipse">
            <a:avLst/>
          </a:prstGeom>
          <a:solidFill>
            <a:srgbClr val="4D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410444" y="672084"/>
            <a:ext cx="82296" cy="82296"/>
          </a:xfrm>
          <a:prstGeom prst="ellipse">
            <a:avLst/>
          </a:prstGeom>
          <a:solidFill>
            <a:srgbClr val="4D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94360" y="6446520"/>
            <a:ext cx="1417320" cy="0"/>
          </a:xfrm>
          <a:prstGeom prst="line">
            <a:avLst/>
          </a:prstGeom>
          <a:ln w="8890">
            <a:solidFill>
              <a:srgbClr val="4DB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103120" y="6382512"/>
            <a:ext cx="27432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42337"/>
                </a:solidFill>
                <a:latin typeface="Aptos"/>
              </a:rPr>
              <a:t>AZURE FIREWALL • EGRESS FILTERING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1400">
                <a:solidFill>
                  <a:srgbClr val="142337"/>
                </a:solidFill>
                <a:latin typeface="Aptos"/>
              </a:rP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424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rPr sz="1400">
                <a:solidFill>
                  <a:srgbClr val="142337"/>
                </a:solidFill>
                <a:latin typeface="Aptos"/>
              </a:rPr>
              <a:t>Our project controls outgoing Internet traffic from Azure workloads.</a:t>
            </a:r>
          </a:p>
          <a:p>
            <a:pPr>
              <a:spcAft>
                <a:spcPts val="1000"/>
              </a:spcAft>
              <a:defRPr sz="1800"/>
            </a:pPr>
            <a:r>
              <a:rPr sz="1400">
                <a:solidFill>
                  <a:srgbClr val="142337"/>
                </a:solidFill>
                <a:latin typeface="Aptos"/>
              </a:rPr>
              <a:t>All Internet-bound traffic is sent through one central Azure Firewall.</a:t>
            </a:r>
          </a:p>
          <a:p>
            <a:pPr>
              <a:spcAft>
                <a:spcPts val="1000"/>
              </a:spcAft>
              <a:defRPr sz="1800"/>
            </a:pPr>
            <a:r>
              <a:rPr sz="1400">
                <a:solidFill>
                  <a:srgbClr val="142337"/>
                </a:solidFill>
                <a:latin typeface="Aptos"/>
              </a:rPr>
              <a:t>The firewall checks traffic using predefined security rules.</a:t>
            </a:r>
          </a:p>
          <a:p>
            <a:pPr>
              <a:spcAft>
                <a:spcPts val="1000"/>
              </a:spcAft>
              <a:defRPr sz="1800"/>
            </a:pPr>
            <a:r>
              <a:rPr sz="1400">
                <a:solidFill>
                  <a:srgbClr val="142337"/>
                </a:solidFill>
                <a:latin typeface="Aptos"/>
              </a:rPr>
              <a:t>Allowed traffic goes to the Internet; unauthorized traffic is blocked.</a:t>
            </a:r>
          </a:p>
          <a:p>
            <a:pPr>
              <a:spcAft>
                <a:spcPts val="1000"/>
              </a:spcAft>
              <a:defRPr sz="1800"/>
            </a:pPr>
            <a:r>
              <a:rPr sz="1400">
                <a:solidFill>
                  <a:srgbClr val="142337"/>
                </a:solidFill>
                <a:latin typeface="Aptos"/>
              </a:rPr>
              <a:t>Logs are collected so administrators can monitor the traffic.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/>
            </a:pPr>
            <a:r>
              <a:rPr sz="1400">
                <a:solidFill>
                  <a:srgbClr val="142337"/>
                </a:solidFill>
                <a:latin typeface="Aptos"/>
              </a:rPr>
              <a:t>Presented by: JALADI REVANTH</a:t>
            </a:r>
          </a:p>
        </p:txBody>
      </p:sp>
      <p:sp>
        <p:nvSpPr>
          <p:cNvPr id="5" name="Oval 4"/>
          <p:cNvSpPr/>
          <p:nvPr/>
        </p:nvSpPr>
        <p:spPr>
          <a:xfrm>
            <a:off x="10424160" y="-594360"/>
            <a:ext cx="2194560" cy="2194560"/>
          </a:xfrm>
          <a:prstGeom prst="ellipse">
            <a:avLst/>
          </a:prstGeom>
          <a:solidFill>
            <a:srgbClr val="307D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640080" y="5989320"/>
            <a:ext cx="1828800" cy="1828800"/>
          </a:xfrm>
          <a:prstGeom prst="ellipse">
            <a:avLst/>
          </a:prstGeom>
          <a:solidFill>
            <a:srgbClr val="4D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9738360" y="256032"/>
            <a:ext cx="502920" cy="228600"/>
          </a:xfrm>
          <a:prstGeom prst="line">
            <a:avLst/>
          </a:prstGeom>
          <a:ln w="10160">
            <a:solidFill>
              <a:srgbClr val="4DB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10241280" y="256032"/>
            <a:ext cx="502920" cy="228600"/>
          </a:xfrm>
          <a:prstGeom prst="line">
            <a:avLst/>
          </a:prstGeom>
          <a:ln w="10160">
            <a:solidFill>
              <a:srgbClr val="4DB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10451592" y="256032"/>
            <a:ext cx="292608" cy="457200"/>
          </a:xfrm>
          <a:prstGeom prst="line">
            <a:avLst/>
          </a:prstGeom>
          <a:ln w="10160">
            <a:solidFill>
              <a:srgbClr val="4DB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9697212" y="214884"/>
            <a:ext cx="82296" cy="82296"/>
          </a:xfrm>
          <a:prstGeom prst="ellipse">
            <a:avLst/>
          </a:prstGeom>
          <a:solidFill>
            <a:srgbClr val="4D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200132" y="443484"/>
            <a:ext cx="82296" cy="82296"/>
          </a:xfrm>
          <a:prstGeom prst="ellipse">
            <a:avLst/>
          </a:prstGeom>
          <a:solidFill>
            <a:srgbClr val="4D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703052" y="214884"/>
            <a:ext cx="82296" cy="82296"/>
          </a:xfrm>
          <a:prstGeom prst="ellipse">
            <a:avLst/>
          </a:prstGeom>
          <a:solidFill>
            <a:srgbClr val="4D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410444" y="672084"/>
            <a:ext cx="82296" cy="82296"/>
          </a:xfrm>
          <a:prstGeom prst="ellipse">
            <a:avLst/>
          </a:prstGeom>
          <a:solidFill>
            <a:srgbClr val="4D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594360" y="6446520"/>
            <a:ext cx="1417320" cy="0"/>
          </a:xfrm>
          <a:prstGeom prst="line">
            <a:avLst/>
          </a:prstGeom>
          <a:ln w="8890">
            <a:solidFill>
              <a:srgbClr val="4DB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103120" y="6382512"/>
            <a:ext cx="27432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42337"/>
                </a:solidFill>
                <a:latin typeface="Aptos"/>
              </a:rPr>
              <a:t>AZURE FIREWALL • EGRESS FILTERING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1400">
                <a:solidFill>
                  <a:srgbClr val="142337"/>
                </a:solidFill>
                <a:latin typeface="Aptos"/>
              </a:rP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424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rPr sz="1400">
                <a:solidFill>
                  <a:srgbClr val="142337"/>
                </a:solidFill>
                <a:latin typeface="Aptos"/>
              </a:rPr>
              <a:t>Azure VMs may need Internet access for updates, packages and APIs.</a:t>
            </a:r>
          </a:p>
          <a:p>
            <a:pPr>
              <a:spcAft>
                <a:spcPts val="1000"/>
              </a:spcAft>
              <a:defRPr sz="1800"/>
            </a:pPr>
            <a:r>
              <a:rPr sz="1400">
                <a:solidFill>
                  <a:srgbClr val="142337"/>
                </a:solidFill>
                <a:latin typeface="Aptos"/>
              </a:rPr>
              <a:t>If every VM connects directly, controlling outbound access becomes difficult.</a:t>
            </a:r>
          </a:p>
          <a:p>
            <a:pPr>
              <a:spcAft>
                <a:spcPts val="1000"/>
              </a:spcAft>
              <a:defRPr sz="1800"/>
            </a:pPr>
            <a:r>
              <a:rPr sz="1400">
                <a:solidFill>
                  <a:srgbClr val="142337"/>
                </a:solidFill>
                <a:latin typeface="Aptos"/>
              </a:rPr>
              <a:t>Different VMs may follow different security rules.</a:t>
            </a:r>
          </a:p>
          <a:p>
            <a:pPr>
              <a:spcAft>
                <a:spcPts val="1000"/>
              </a:spcAft>
              <a:defRPr sz="1800"/>
            </a:pPr>
            <a:r>
              <a:rPr sz="1400">
                <a:solidFill>
                  <a:srgbClr val="142337"/>
                </a:solidFill>
                <a:latin typeface="Aptos"/>
              </a:rPr>
              <a:t>Monitoring and auditing all outbound connections becomes difficult.</a:t>
            </a:r>
          </a:p>
          <a:p>
            <a:pPr>
              <a:spcAft>
                <a:spcPts val="1000"/>
              </a:spcAft>
              <a:defRPr sz="1800"/>
            </a:pPr>
            <a:r>
              <a:rPr sz="1400">
                <a:solidFill>
                  <a:srgbClr val="142337"/>
                </a:solidFill>
                <a:latin typeface="Aptos"/>
              </a:rPr>
              <a:t>Our solution creates one central inspection point using Azure Firewall.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/>
            </a:pPr>
            <a:r>
              <a:rPr sz="1400">
                <a:solidFill>
                  <a:srgbClr val="142337"/>
                </a:solidFill>
                <a:latin typeface="Aptos"/>
              </a:rPr>
              <a:t>Presented by: JALADI REVANTH</a:t>
            </a:r>
          </a:p>
        </p:txBody>
      </p:sp>
      <p:sp>
        <p:nvSpPr>
          <p:cNvPr id="5" name="Oval 4"/>
          <p:cNvSpPr/>
          <p:nvPr/>
        </p:nvSpPr>
        <p:spPr>
          <a:xfrm>
            <a:off x="10424160" y="-594360"/>
            <a:ext cx="2194560" cy="2194560"/>
          </a:xfrm>
          <a:prstGeom prst="ellipse">
            <a:avLst/>
          </a:prstGeom>
          <a:solidFill>
            <a:srgbClr val="307D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640080" y="5989320"/>
            <a:ext cx="1828800" cy="1828800"/>
          </a:xfrm>
          <a:prstGeom prst="ellipse">
            <a:avLst/>
          </a:prstGeom>
          <a:solidFill>
            <a:srgbClr val="4D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9738360" y="256032"/>
            <a:ext cx="502920" cy="228600"/>
          </a:xfrm>
          <a:prstGeom prst="line">
            <a:avLst/>
          </a:prstGeom>
          <a:ln w="10160">
            <a:solidFill>
              <a:srgbClr val="4DB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10241280" y="256032"/>
            <a:ext cx="502920" cy="228600"/>
          </a:xfrm>
          <a:prstGeom prst="line">
            <a:avLst/>
          </a:prstGeom>
          <a:ln w="10160">
            <a:solidFill>
              <a:srgbClr val="4DB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10451592" y="256032"/>
            <a:ext cx="292608" cy="457200"/>
          </a:xfrm>
          <a:prstGeom prst="line">
            <a:avLst/>
          </a:prstGeom>
          <a:ln w="10160">
            <a:solidFill>
              <a:srgbClr val="4DB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9697212" y="214884"/>
            <a:ext cx="82296" cy="82296"/>
          </a:xfrm>
          <a:prstGeom prst="ellipse">
            <a:avLst/>
          </a:prstGeom>
          <a:solidFill>
            <a:srgbClr val="4D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200132" y="443484"/>
            <a:ext cx="82296" cy="82296"/>
          </a:xfrm>
          <a:prstGeom prst="ellipse">
            <a:avLst/>
          </a:prstGeom>
          <a:solidFill>
            <a:srgbClr val="4D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703052" y="214884"/>
            <a:ext cx="82296" cy="82296"/>
          </a:xfrm>
          <a:prstGeom prst="ellipse">
            <a:avLst/>
          </a:prstGeom>
          <a:solidFill>
            <a:srgbClr val="4D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410444" y="672084"/>
            <a:ext cx="82296" cy="82296"/>
          </a:xfrm>
          <a:prstGeom prst="ellipse">
            <a:avLst/>
          </a:prstGeom>
          <a:solidFill>
            <a:srgbClr val="4D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594360" y="6446520"/>
            <a:ext cx="1417320" cy="0"/>
          </a:xfrm>
          <a:prstGeom prst="line">
            <a:avLst/>
          </a:prstGeom>
          <a:ln w="8890">
            <a:solidFill>
              <a:srgbClr val="4DB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103120" y="6382512"/>
            <a:ext cx="27432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42337"/>
                </a:solidFill>
                <a:latin typeface="Aptos"/>
              </a:rPr>
              <a:t>AZURE FIREWALL • EGRESS FILTERING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1400">
                <a:solidFill>
                  <a:srgbClr val="142337"/>
                </a:solidFill>
                <a:latin typeface="Aptos"/>
              </a:rPr>
              <a:t>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424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rPr sz="1400">
                <a:solidFill>
                  <a:srgbClr val="142337"/>
                </a:solidFill>
                <a:latin typeface="Aptos"/>
              </a:rPr>
              <a:t>Centralize — route workload egress through one security control point.</a:t>
            </a:r>
          </a:p>
          <a:p>
            <a:pPr>
              <a:spcAft>
                <a:spcPts val="1000"/>
              </a:spcAft>
              <a:defRPr sz="1800"/>
            </a:pPr>
            <a:r>
              <a:rPr sz="1400">
                <a:solidFill>
                  <a:srgbClr val="142337"/>
                </a:solidFill>
                <a:latin typeface="Aptos"/>
              </a:rPr>
              <a:t>Control — allow only approved destinations, ports and protocols.</a:t>
            </a:r>
          </a:p>
          <a:p>
            <a:pPr>
              <a:spcAft>
                <a:spcPts val="1000"/>
              </a:spcAft>
              <a:defRPr sz="1800"/>
            </a:pPr>
            <a:r>
              <a:rPr sz="1400">
                <a:solidFill>
                  <a:srgbClr val="142337"/>
                </a:solidFill>
                <a:latin typeface="Aptos"/>
              </a:rPr>
              <a:t>Inspect — apply network and application-level firewall rules.</a:t>
            </a:r>
          </a:p>
          <a:p>
            <a:pPr>
              <a:spcAft>
                <a:spcPts val="1000"/>
              </a:spcAft>
              <a:defRPr sz="1800"/>
            </a:pPr>
            <a:r>
              <a:rPr sz="1400">
                <a:solidFill>
                  <a:srgbClr val="142337"/>
                </a:solidFill>
                <a:latin typeface="Aptos"/>
              </a:rPr>
              <a:t>Monitor — collect firewall diagnostics and review traffic logs.</a:t>
            </a:r>
          </a:p>
          <a:p>
            <a:pPr>
              <a:spcAft>
                <a:spcPts val="1000"/>
              </a:spcAft>
              <a:defRPr sz="1800"/>
            </a:pPr>
            <a:r>
              <a:rPr sz="1400">
                <a:solidFill>
                  <a:srgbClr val="142337"/>
                </a:solidFill>
                <a:latin typeface="Aptos"/>
              </a:rPr>
              <a:t>Validate — test allowed, blocked and unauthorized egress cases.</a:t>
            </a:r>
          </a:p>
          <a:p>
            <a:pPr>
              <a:spcAft>
                <a:spcPts val="1000"/>
              </a:spcAft>
              <a:defRPr sz="1800"/>
            </a:pPr>
            <a:r>
              <a:rPr sz="1400">
                <a:solidFill>
                  <a:srgbClr val="142337"/>
                </a:solidFill>
                <a:latin typeface="Aptos"/>
              </a:rPr>
              <a:t>Scale — support multiple workloads using a hub-and-spoke pattern.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/>
            </a:pPr>
            <a:r>
              <a:rPr sz="1400">
                <a:solidFill>
                  <a:srgbClr val="142337"/>
                </a:solidFill>
                <a:latin typeface="Aptos"/>
              </a:rPr>
              <a:t>Presented by: JALADI REVANTH</a:t>
            </a:r>
          </a:p>
        </p:txBody>
      </p:sp>
      <p:sp>
        <p:nvSpPr>
          <p:cNvPr id="5" name="Oval 4"/>
          <p:cNvSpPr/>
          <p:nvPr/>
        </p:nvSpPr>
        <p:spPr>
          <a:xfrm>
            <a:off x="10424160" y="-594360"/>
            <a:ext cx="2194560" cy="2194560"/>
          </a:xfrm>
          <a:prstGeom prst="ellipse">
            <a:avLst/>
          </a:prstGeom>
          <a:solidFill>
            <a:srgbClr val="307D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640080" y="5989320"/>
            <a:ext cx="1828800" cy="1828800"/>
          </a:xfrm>
          <a:prstGeom prst="ellipse">
            <a:avLst/>
          </a:prstGeom>
          <a:solidFill>
            <a:srgbClr val="4D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9738360" y="256032"/>
            <a:ext cx="502920" cy="228600"/>
          </a:xfrm>
          <a:prstGeom prst="line">
            <a:avLst/>
          </a:prstGeom>
          <a:ln w="10160">
            <a:solidFill>
              <a:srgbClr val="4DB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10241280" y="256032"/>
            <a:ext cx="502920" cy="228600"/>
          </a:xfrm>
          <a:prstGeom prst="line">
            <a:avLst/>
          </a:prstGeom>
          <a:ln w="10160">
            <a:solidFill>
              <a:srgbClr val="4DB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10451592" y="256032"/>
            <a:ext cx="292608" cy="457200"/>
          </a:xfrm>
          <a:prstGeom prst="line">
            <a:avLst/>
          </a:prstGeom>
          <a:ln w="10160">
            <a:solidFill>
              <a:srgbClr val="4DB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9697212" y="214884"/>
            <a:ext cx="82296" cy="82296"/>
          </a:xfrm>
          <a:prstGeom prst="ellipse">
            <a:avLst/>
          </a:prstGeom>
          <a:solidFill>
            <a:srgbClr val="4D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200132" y="443484"/>
            <a:ext cx="82296" cy="82296"/>
          </a:xfrm>
          <a:prstGeom prst="ellipse">
            <a:avLst/>
          </a:prstGeom>
          <a:solidFill>
            <a:srgbClr val="4D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703052" y="214884"/>
            <a:ext cx="82296" cy="82296"/>
          </a:xfrm>
          <a:prstGeom prst="ellipse">
            <a:avLst/>
          </a:prstGeom>
          <a:solidFill>
            <a:srgbClr val="4D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410444" y="672084"/>
            <a:ext cx="82296" cy="82296"/>
          </a:xfrm>
          <a:prstGeom prst="ellipse">
            <a:avLst/>
          </a:prstGeom>
          <a:solidFill>
            <a:srgbClr val="4D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594360" y="6446520"/>
            <a:ext cx="1417320" cy="0"/>
          </a:xfrm>
          <a:prstGeom prst="line">
            <a:avLst/>
          </a:prstGeom>
          <a:ln w="8890">
            <a:solidFill>
              <a:srgbClr val="4DB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103120" y="6382512"/>
            <a:ext cx="27432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42337"/>
                </a:solidFill>
                <a:latin typeface="Aptos"/>
              </a:rPr>
              <a:t>AZURE FIREWALL • EGRESS FILTERING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1400">
                <a:solidFill>
                  <a:srgbClr val="142337"/>
                </a:solidFill>
                <a:latin typeface="Aptos"/>
              </a:rPr>
              <a:t>Use Case / Real-World Scenario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424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rPr sz="1400">
                <a:solidFill>
                  <a:srgbClr val="142337"/>
                </a:solidFill>
                <a:latin typeface="Aptos"/>
              </a:rPr>
              <a:t>Example: Enterprise application platform.</a:t>
            </a:r>
          </a:p>
          <a:p>
            <a:pPr>
              <a:spcAft>
                <a:spcPts val="1000"/>
              </a:spcAft>
              <a:defRPr sz="1800"/>
            </a:pPr>
            <a:r>
              <a:rPr sz="1400">
                <a:solidFill>
                  <a:srgbClr val="142337"/>
                </a:solidFill>
                <a:latin typeface="Aptos"/>
              </a:rPr>
              <a:t>Application servers in Azure need Internet access for updates and approved APIs.</a:t>
            </a:r>
          </a:p>
          <a:p>
            <a:pPr>
              <a:spcAft>
                <a:spcPts val="1000"/>
              </a:spcAft>
              <a:defRPr sz="1800"/>
            </a:pPr>
            <a:r>
              <a:rPr sz="1400">
                <a:solidFill>
                  <a:srgbClr val="142337"/>
                </a:solidFill>
                <a:latin typeface="Aptos"/>
              </a:rPr>
              <a:t>The company does not want them to access every website.</a:t>
            </a:r>
          </a:p>
          <a:p>
            <a:pPr>
              <a:spcAft>
                <a:spcPts val="1000"/>
              </a:spcAft>
              <a:defRPr sz="1800"/>
            </a:pPr>
            <a:r>
              <a:rPr sz="1400">
                <a:solidFill>
                  <a:srgbClr val="142337"/>
                </a:solidFill>
                <a:latin typeface="Aptos"/>
              </a:rPr>
              <a:t>All outbound traffic is sent through Azure Firewall.</a:t>
            </a:r>
          </a:p>
          <a:p>
            <a:pPr>
              <a:spcAft>
                <a:spcPts val="1000"/>
              </a:spcAft>
              <a:defRPr sz="1800"/>
            </a:pPr>
            <a:r>
              <a:rPr sz="1400">
                <a:solidFill>
                  <a:srgbClr val="142337"/>
                </a:solidFill>
                <a:latin typeface="Aptos"/>
              </a:rPr>
              <a:t>The firewall allows approved destinations and blocks others.</a:t>
            </a:r>
          </a:p>
          <a:p>
            <a:pPr>
              <a:spcAft>
                <a:spcPts val="1000"/>
              </a:spcAft>
              <a:defRPr sz="1800"/>
            </a:pPr>
            <a:r>
              <a:rPr sz="1400">
                <a:solidFill>
                  <a:srgbClr val="142337"/>
                </a:solidFill>
                <a:latin typeface="Aptos"/>
              </a:rPr>
              <a:t>Business value: consistent egress governance, simpler policy management and better audit visibility.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/>
            </a:pPr>
            <a:r>
              <a:rPr sz="1400">
                <a:solidFill>
                  <a:srgbClr val="142337"/>
                </a:solidFill>
                <a:latin typeface="Aptos"/>
              </a:rPr>
              <a:t>Presented by: JALADI REVANTH</a:t>
            </a:r>
          </a:p>
        </p:txBody>
      </p:sp>
      <p:sp>
        <p:nvSpPr>
          <p:cNvPr id="5" name="Oval 4"/>
          <p:cNvSpPr/>
          <p:nvPr/>
        </p:nvSpPr>
        <p:spPr>
          <a:xfrm>
            <a:off x="10424160" y="-594360"/>
            <a:ext cx="2194560" cy="2194560"/>
          </a:xfrm>
          <a:prstGeom prst="ellipse">
            <a:avLst/>
          </a:prstGeom>
          <a:solidFill>
            <a:srgbClr val="307D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640080" y="5989320"/>
            <a:ext cx="1828800" cy="1828800"/>
          </a:xfrm>
          <a:prstGeom prst="ellipse">
            <a:avLst/>
          </a:prstGeom>
          <a:solidFill>
            <a:srgbClr val="4D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9738360" y="256032"/>
            <a:ext cx="502920" cy="228600"/>
          </a:xfrm>
          <a:prstGeom prst="line">
            <a:avLst/>
          </a:prstGeom>
          <a:ln w="10160">
            <a:solidFill>
              <a:srgbClr val="4DB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10241280" y="256032"/>
            <a:ext cx="502920" cy="228600"/>
          </a:xfrm>
          <a:prstGeom prst="line">
            <a:avLst/>
          </a:prstGeom>
          <a:ln w="10160">
            <a:solidFill>
              <a:srgbClr val="4DB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10451592" y="256032"/>
            <a:ext cx="292608" cy="457200"/>
          </a:xfrm>
          <a:prstGeom prst="line">
            <a:avLst/>
          </a:prstGeom>
          <a:ln w="10160">
            <a:solidFill>
              <a:srgbClr val="4DB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9697212" y="214884"/>
            <a:ext cx="82296" cy="82296"/>
          </a:xfrm>
          <a:prstGeom prst="ellipse">
            <a:avLst/>
          </a:prstGeom>
          <a:solidFill>
            <a:srgbClr val="4D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200132" y="443484"/>
            <a:ext cx="82296" cy="82296"/>
          </a:xfrm>
          <a:prstGeom prst="ellipse">
            <a:avLst/>
          </a:prstGeom>
          <a:solidFill>
            <a:srgbClr val="4D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703052" y="214884"/>
            <a:ext cx="82296" cy="82296"/>
          </a:xfrm>
          <a:prstGeom prst="ellipse">
            <a:avLst/>
          </a:prstGeom>
          <a:solidFill>
            <a:srgbClr val="4D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410444" y="672084"/>
            <a:ext cx="82296" cy="82296"/>
          </a:xfrm>
          <a:prstGeom prst="ellipse">
            <a:avLst/>
          </a:prstGeom>
          <a:solidFill>
            <a:srgbClr val="4D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594360" y="6446520"/>
            <a:ext cx="1417320" cy="0"/>
          </a:xfrm>
          <a:prstGeom prst="line">
            <a:avLst/>
          </a:prstGeom>
          <a:ln w="8890">
            <a:solidFill>
              <a:srgbClr val="4DB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103120" y="6382512"/>
            <a:ext cx="27432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42337"/>
                </a:solidFill>
                <a:latin typeface="Aptos"/>
              </a:rPr>
              <a:t>AZURE FIREWALL • EGRESS FILTERING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1400">
                <a:solidFill>
                  <a:srgbClr val="142337"/>
                </a:solidFill>
                <a:latin typeface="Aptos"/>
              </a:rPr>
              <a:t>Azure Services Used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424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rPr sz="1400">
                <a:solidFill>
                  <a:srgbClr val="142337"/>
                </a:solidFill>
                <a:latin typeface="Aptos"/>
              </a:rPr>
              <a:t>Azure Firewall — checks and controls outbound traffic; main security control.</a:t>
            </a:r>
          </a:p>
          <a:p>
            <a:pPr>
              <a:spcAft>
                <a:spcPts val="1000"/>
              </a:spcAft>
              <a:defRPr sz="1800"/>
            </a:pPr>
            <a:r>
              <a:rPr sz="1400">
                <a:solidFill>
                  <a:srgbClr val="142337"/>
                </a:solidFill>
                <a:latin typeface="Aptos"/>
              </a:rPr>
              <a:t>Firewall Policy — stores application and network rules.</a:t>
            </a:r>
          </a:p>
          <a:p>
            <a:pPr>
              <a:spcAft>
                <a:spcPts val="1000"/>
              </a:spcAft>
              <a:defRPr sz="1800"/>
            </a:pPr>
            <a:r>
              <a:rPr sz="1400">
                <a:solidFill>
                  <a:srgbClr val="142337"/>
                </a:solidFill>
                <a:latin typeface="Aptos"/>
              </a:rPr>
              <a:t>Virtual Network + VNet Peering — provide the hub-and-spoke network path.</a:t>
            </a:r>
          </a:p>
          <a:p>
            <a:pPr>
              <a:spcAft>
                <a:spcPts val="1000"/>
              </a:spcAft>
              <a:defRPr sz="1800"/>
            </a:pPr>
            <a:r>
              <a:rPr sz="1400">
                <a:solidFill>
                  <a:srgbClr val="142337"/>
                </a:solidFill>
                <a:latin typeface="Aptos"/>
              </a:rPr>
              <a:t>Route Table / UDR — sends Internet traffic to the firewall.</a:t>
            </a:r>
          </a:p>
          <a:p>
            <a:pPr>
              <a:spcAft>
                <a:spcPts val="1000"/>
              </a:spcAft>
              <a:defRPr sz="1800"/>
            </a:pPr>
            <a:r>
              <a:rPr sz="1400">
                <a:solidFill>
                  <a:srgbClr val="142337"/>
                </a:solidFill>
                <a:latin typeface="Aptos"/>
              </a:rPr>
              <a:t>NSG — provides extra network-level protection.</a:t>
            </a:r>
          </a:p>
          <a:p>
            <a:pPr>
              <a:spcAft>
                <a:spcPts val="1000"/>
              </a:spcAft>
              <a:defRPr sz="1800"/>
            </a:pPr>
            <a:r>
              <a:rPr sz="1400">
                <a:solidFill>
                  <a:srgbClr val="142337"/>
                </a:solidFill>
                <a:latin typeface="Aptos"/>
              </a:rPr>
              <a:t>Azure Monitor / Log Analytics — monitors and analyzes logs.</a:t>
            </a:r>
          </a:p>
          <a:p>
            <a:pPr>
              <a:spcAft>
                <a:spcPts val="1000"/>
              </a:spcAft>
              <a:defRPr sz="1800"/>
            </a:pPr>
            <a:r>
              <a:rPr sz="1400">
                <a:solidFill>
                  <a:srgbClr val="142337"/>
                </a:solidFill>
                <a:latin typeface="Aptos"/>
              </a:rPr>
              <a:t>Virtual Machine — test workload; Public IP is used only when required.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/>
            </a:pPr>
            <a:r>
              <a:rPr sz="1400">
                <a:solidFill>
                  <a:srgbClr val="142337"/>
                </a:solidFill>
                <a:latin typeface="Aptos"/>
              </a:rPr>
              <a:t>Presented by: CHINAPOTHULA VINAY</a:t>
            </a:r>
          </a:p>
        </p:txBody>
      </p:sp>
      <p:sp>
        <p:nvSpPr>
          <p:cNvPr id="5" name="Oval 4"/>
          <p:cNvSpPr/>
          <p:nvPr/>
        </p:nvSpPr>
        <p:spPr>
          <a:xfrm>
            <a:off x="10424160" y="-594360"/>
            <a:ext cx="2194560" cy="2194560"/>
          </a:xfrm>
          <a:prstGeom prst="ellipse">
            <a:avLst/>
          </a:prstGeom>
          <a:solidFill>
            <a:srgbClr val="307D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640080" y="5989320"/>
            <a:ext cx="1828800" cy="1828800"/>
          </a:xfrm>
          <a:prstGeom prst="ellipse">
            <a:avLst/>
          </a:prstGeom>
          <a:solidFill>
            <a:srgbClr val="4D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9738360" y="256032"/>
            <a:ext cx="502920" cy="228600"/>
          </a:xfrm>
          <a:prstGeom prst="line">
            <a:avLst/>
          </a:prstGeom>
          <a:ln w="10160">
            <a:solidFill>
              <a:srgbClr val="4DB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10241280" y="256032"/>
            <a:ext cx="502920" cy="228600"/>
          </a:xfrm>
          <a:prstGeom prst="line">
            <a:avLst/>
          </a:prstGeom>
          <a:ln w="10160">
            <a:solidFill>
              <a:srgbClr val="4DB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10451592" y="256032"/>
            <a:ext cx="292608" cy="457200"/>
          </a:xfrm>
          <a:prstGeom prst="line">
            <a:avLst/>
          </a:prstGeom>
          <a:ln w="10160">
            <a:solidFill>
              <a:srgbClr val="4DB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9697212" y="214884"/>
            <a:ext cx="82296" cy="82296"/>
          </a:xfrm>
          <a:prstGeom prst="ellipse">
            <a:avLst/>
          </a:prstGeom>
          <a:solidFill>
            <a:srgbClr val="4D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200132" y="443484"/>
            <a:ext cx="82296" cy="82296"/>
          </a:xfrm>
          <a:prstGeom prst="ellipse">
            <a:avLst/>
          </a:prstGeom>
          <a:solidFill>
            <a:srgbClr val="4D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703052" y="214884"/>
            <a:ext cx="82296" cy="82296"/>
          </a:xfrm>
          <a:prstGeom prst="ellipse">
            <a:avLst/>
          </a:prstGeom>
          <a:solidFill>
            <a:srgbClr val="4D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410444" y="672084"/>
            <a:ext cx="82296" cy="82296"/>
          </a:xfrm>
          <a:prstGeom prst="ellipse">
            <a:avLst/>
          </a:prstGeom>
          <a:solidFill>
            <a:srgbClr val="4D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594360" y="6446520"/>
            <a:ext cx="1417320" cy="0"/>
          </a:xfrm>
          <a:prstGeom prst="line">
            <a:avLst/>
          </a:prstGeom>
          <a:ln w="8890">
            <a:solidFill>
              <a:srgbClr val="4DB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103120" y="6382512"/>
            <a:ext cx="27432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42337"/>
                </a:solidFill>
                <a:latin typeface="Aptos"/>
              </a:rPr>
              <a:t>AZURE FIREWALL • EGRESS FILTERING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1400">
                <a:solidFill>
                  <a:srgbClr val="142337"/>
                </a:solidFill>
                <a:latin typeface="Aptos"/>
              </a:rPr>
              <a:t>Solution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424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rPr sz="1400">
                <a:solidFill>
                  <a:srgbClr val="142337"/>
                </a:solidFill>
                <a:latin typeface="Aptos"/>
              </a:rPr>
              <a:t>Hub-and-spoke architecture is used.</a:t>
            </a:r>
          </a:p>
          <a:p>
            <a:pPr>
              <a:spcAft>
                <a:spcPts val="1000"/>
              </a:spcAft>
              <a:defRPr sz="1800"/>
            </a:pPr>
            <a:r>
              <a:rPr sz="1400">
                <a:solidFill>
                  <a:srgbClr val="142337"/>
                </a:solidFill>
                <a:latin typeface="Aptos"/>
              </a:rPr>
              <a:t>Workload VNet → UDR → Azure Firewall → Internet / approved external services.</a:t>
            </a:r>
          </a:p>
          <a:p>
            <a:pPr>
              <a:spcAft>
                <a:spcPts val="1000"/>
              </a:spcAft>
              <a:defRPr sz="1800"/>
            </a:pPr>
            <a:r>
              <a:rPr sz="1400">
                <a:solidFill>
                  <a:srgbClr val="142337"/>
                </a:solidFill>
                <a:latin typeface="Aptos"/>
              </a:rPr>
              <a:t>Azure Firewall is deployed in the dedicated AzureFirewallSubnet.</a:t>
            </a:r>
          </a:p>
          <a:p>
            <a:pPr>
              <a:spcAft>
                <a:spcPts val="1000"/>
              </a:spcAft>
              <a:defRPr sz="1800"/>
            </a:pPr>
            <a:r>
              <a:rPr sz="1400">
                <a:solidFill>
                  <a:srgbClr val="142337"/>
                </a:solidFill>
                <a:latin typeface="Aptos"/>
              </a:rPr>
              <a:t>Firewall Policy contains application and network rules.</a:t>
            </a:r>
          </a:p>
          <a:p>
            <a:pPr>
              <a:spcAft>
                <a:spcPts val="1000"/>
              </a:spcAft>
              <a:defRPr sz="1800"/>
            </a:pPr>
            <a:r>
              <a:rPr sz="1400">
                <a:solidFill>
                  <a:srgbClr val="142337"/>
                </a:solidFill>
                <a:latin typeface="Aptos"/>
              </a:rPr>
              <a:t>Azure Monitor / Log Analytics provides monitoring.</a:t>
            </a:r>
          </a:p>
          <a:p>
            <a:pPr>
              <a:spcAft>
                <a:spcPts val="1000"/>
              </a:spcAft>
              <a:defRPr sz="1800"/>
            </a:pPr>
            <a:r>
              <a:rPr sz="1400">
                <a:solidFill>
                  <a:srgbClr val="142337"/>
                </a:solidFill>
                <a:latin typeface="Aptos"/>
              </a:rPr>
              <a:t>UDR: 0.0.0.0/0 → Firewall private IP.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/>
            </a:pPr>
            <a:r>
              <a:rPr sz="1400">
                <a:solidFill>
                  <a:srgbClr val="142337"/>
                </a:solidFill>
                <a:latin typeface="Aptos"/>
              </a:rPr>
              <a:t>Presented by: CHINAPOTHULA VINAY</a:t>
            </a:r>
          </a:p>
        </p:txBody>
      </p:sp>
      <p:sp>
        <p:nvSpPr>
          <p:cNvPr id="5" name="Oval 4"/>
          <p:cNvSpPr/>
          <p:nvPr/>
        </p:nvSpPr>
        <p:spPr>
          <a:xfrm>
            <a:off x="10424160" y="-594360"/>
            <a:ext cx="2194560" cy="2194560"/>
          </a:xfrm>
          <a:prstGeom prst="ellipse">
            <a:avLst/>
          </a:prstGeom>
          <a:solidFill>
            <a:srgbClr val="307D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640080" y="5989320"/>
            <a:ext cx="1828800" cy="1828800"/>
          </a:xfrm>
          <a:prstGeom prst="ellipse">
            <a:avLst/>
          </a:prstGeom>
          <a:solidFill>
            <a:srgbClr val="4D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9738360" y="256032"/>
            <a:ext cx="502920" cy="228600"/>
          </a:xfrm>
          <a:prstGeom prst="line">
            <a:avLst/>
          </a:prstGeom>
          <a:ln w="10160">
            <a:solidFill>
              <a:srgbClr val="4DB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10241280" y="256032"/>
            <a:ext cx="502920" cy="228600"/>
          </a:xfrm>
          <a:prstGeom prst="line">
            <a:avLst/>
          </a:prstGeom>
          <a:ln w="10160">
            <a:solidFill>
              <a:srgbClr val="4DB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10451592" y="256032"/>
            <a:ext cx="292608" cy="457200"/>
          </a:xfrm>
          <a:prstGeom prst="line">
            <a:avLst/>
          </a:prstGeom>
          <a:ln w="10160">
            <a:solidFill>
              <a:srgbClr val="4DB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9697212" y="214884"/>
            <a:ext cx="82296" cy="82296"/>
          </a:xfrm>
          <a:prstGeom prst="ellipse">
            <a:avLst/>
          </a:prstGeom>
          <a:solidFill>
            <a:srgbClr val="4D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200132" y="443484"/>
            <a:ext cx="82296" cy="82296"/>
          </a:xfrm>
          <a:prstGeom prst="ellipse">
            <a:avLst/>
          </a:prstGeom>
          <a:solidFill>
            <a:srgbClr val="4D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703052" y="214884"/>
            <a:ext cx="82296" cy="82296"/>
          </a:xfrm>
          <a:prstGeom prst="ellipse">
            <a:avLst/>
          </a:prstGeom>
          <a:solidFill>
            <a:srgbClr val="4D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410444" y="672084"/>
            <a:ext cx="82296" cy="82296"/>
          </a:xfrm>
          <a:prstGeom prst="ellipse">
            <a:avLst/>
          </a:prstGeom>
          <a:solidFill>
            <a:srgbClr val="4D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1005840" y="5074920"/>
            <a:ext cx="9692640" cy="0"/>
          </a:xfrm>
          <a:prstGeom prst="line">
            <a:avLst/>
          </a:prstGeom>
          <a:ln w="12700">
            <a:solidFill>
              <a:srgbClr val="4DB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005840" y="5020056"/>
            <a:ext cx="109728" cy="109728"/>
          </a:xfrm>
          <a:prstGeom prst="ellipse">
            <a:avLst/>
          </a:prstGeom>
          <a:solidFill>
            <a:srgbClr val="4D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5184648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142337"/>
                </a:solidFill>
                <a:latin typeface="Aptos"/>
              </a:rPr>
              <a:t>WORKLOAD</a:t>
            </a:r>
          </a:p>
        </p:txBody>
      </p:sp>
      <p:sp>
        <p:nvSpPr>
          <p:cNvPr id="17" name="Oval 16"/>
          <p:cNvSpPr/>
          <p:nvPr/>
        </p:nvSpPr>
        <p:spPr>
          <a:xfrm>
            <a:off x="3657600" y="5020056"/>
            <a:ext cx="109728" cy="109728"/>
          </a:xfrm>
          <a:prstGeom prst="ellipse">
            <a:avLst/>
          </a:prstGeom>
          <a:solidFill>
            <a:srgbClr val="4D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29000" y="5184648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142337"/>
                </a:solidFill>
                <a:latin typeface="Aptos"/>
              </a:rPr>
              <a:t>UDR</a:t>
            </a:r>
          </a:p>
        </p:txBody>
      </p:sp>
      <p:sp>
        <p:nvSpPr>
          <p:cNvPr id="19" name="Oval 18"/>
          <p:cNvSpPr/>
          <p:nvPr/>
        </p:nvSpPr>
        <p:spPr>
          <a:xfrm>
            <a:off x="6126480" y="5020056"/>
            <a:ext cx="109728" cy="109728"/>
          </a:xfrm>
          <a:prstGeom prst="ellipse">
            <a:avLst/>
          </a:prstGeom>
          <a:solidFill>
            <a:srgbClr val="4D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97880" y="5184648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142337"/>
                </a:solidFill>
                <a:latin typeface="Aptos"/>
              </a:rPr>
              <a:t>FIREWALL</a:t>
            </a:r>
          </a:p>
        </p:txBody>
      </p:sp>
      <p:sp>
        <p:nvSpPr>
          <p:cNvPr id="21" name="Oval 20"/>
          <p:cNvSpPr/>
          <p:nvPr/>
        </p:nvSpPr>
        <p:spPr>
          <a:xfrm>
            <a:off x="8412480" y="5020056"/>
            <a:ext cx="109728" cy="109728"/>
          </a:xfrm>
          <a:prstGeom prst="ellipse">
            <a:avLst/>
          </a:prstGeom>
          <a:solidFill>
            <a:srgbClr val="4D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83880" y="5184648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142337"/>
                </a:solidFill>
                <a:latin typeface="Aptos"/>
              </a:rPr>
              <a:t>POLICY</a:t>
            </a:r>
          </a:p>
        </p:txBody>
      </p:sp>
      <p:sp>
        <p:nvSpPr>
          <p:cNvPr id="23" name="Oval 22"/>
          <p:cNvSpPr/>
          <p:nvPr/>
        </p:nvSpPr>
        <p:spPr>
          <a:xfrm>
            <a:off x="10058400" y="5020056"/>
            <a:ext cx="109728" cy="109728"/>
          </a:xfrm>
          <a:prstGeom prst="ellipse">
            <a:avLst/>
          </a:prstGeom>
          <a:solidFill>
            <a:srgbClr val="4D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29800" y="5184648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142337"/>
                </a:solidFill>
                <a:latin typeface="Aptos"/>
              </a:rPr>
              <a:t>INTERNET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94360" y="6446520"/>
            <a:ext cx="1417320" cy="0"/>
          </a:xfrm>
          <a:prstGeom prst="line">
            <a:avLst/>
          </a:prstGeom>
          <a:ln w="8890">
            <a:solidFill>
              <a:srgbClr val="4DB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2103120" y="6382512"/>
            <a:ext cx="27432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42337"/>
                </a:solidFill>
                <a:latin typeface="Aptos"/>
              </a:rPr>
              <a:t>AZURE FIREWALL • EGRESS FILTERING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1400">
                <a:solidFill>
                  <a:srgbClr val="142337"/>
                </a:solidFill>
                <a:latin typeface="Aptos"/>
              </a:rPr>
              <a:t>Azure Resource Configuration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424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rPr sz="1400">
                <a:solidFill>
                  <a:srgbClr val="142337"/>
                </a:solidFill>
                <a:latin typeface="Aptos"/>
              </a:rPr>
              <a:t>Resource Group: rg-egress-filtering.</a:t>
            </a:r>
          </a:p>
          <a:p>
            <a:pPr>
              <a:spcAft>
                <a:spcPts val="1000"/>
              </a:spcAft>
              <a:defRPr sz="1800"/>
            </a:pPr>
            <a:r>
              <a:rPr sz="1400">
                <a:solidFill>
                  <a:srgbClr val="142337"/>
                </a:solidFill>
                <a:latin typeface="Aptos"/>
              </a:rPr>
              <a:t>Hub VNet: 10.0.0.0/16.</a:t>
            </a:r>
          </a:p>
          <a:p>
            <a:pPr>
              <a:spcAft>
                <a:spcPts val="1000"/>
              </a:spcAft>
              <a:defRPr sz="1800"/>
            </a:pPr>
            <a:r>
              <a:rPr sz="1400">
                <a:solidFill>
                  <a:srgbClr val="142337"/>
                </a:solidFill>
                <a:latin typeface="Aptos"/>
              </a:rPr>
              <a:t>Firewall Subnet: 10.0.1.0/26.</a:t>
            </a:r>
          </a:p>
          <a:p>
            <a:pPr>
              <a:spcAft>
                <a:spcPts val="1000"/>
              </a:spcAft>
              <a:defRPr sz="1800"/>
            </a:pPr>
            <a:r>
              <a:rPr sz="1400">
                <a:solidFill>
                  <a:srgbClr val="142337"/>
                </a:solidFill>
                <a:latin typeface="Aptos"/>
              </a:rPr>
              <a:t>Workload VNet: 10.1.0.0/16.</a:t>
            </a:r>
          </a:p>
          <a:p>
            <a:pPr>
              <a:spcAft>
                <a:spcPts val="1000"/>
              </a:spcAft>
              <a:defRPr sz="1800"/>
            </a:pPr>
            <a:r>
              <a:rPr sz="1400">
                <a:solidFill>
                  <a:srgbClr val="142337"/>
                </a:solidFill>
                <a:latin typeface="Aptos"/>
              </a:rPr>
              <a:t>Workload Subnet: 10.1.1.0/24.</a:t>
            </a:r>
          </a:p>
          <a:p>
            <a:pPr>
              <a:spcAft>
                <a:spcPts val="1000"/>
              </a:spcAft>
              <a:defRPr sz="1800"/>
            </a:pPr>
            <a:r>
              <a:rPr sz="1400">
                <a:solidFill>
                  <a:srgbClr val="142337"/>
                </a:solidFill>
                <a:latin typeface="Aptos"/>
              </a:rPr>
              <a:t>Firewall: Basic / Standard depending on project needs.</a:t>
            </a:r>
          </a:p>
          <a:p>
            <a:pPr>
              <a:spcAft>
                <a:spcPts val="1000"/>
              </a:spcAft>
              <a:defRPr sz="1800"/>
            </a:pPr>
            <a:r>
              <a:rPr sz="1400">
                <a:solidFill>
                  <a:srgbClr val="142337"/>
                </a:solidFill>
                <a:latin typeface="Aptos"/>
              </a:rPr>
              <a:t>Firewall Policy: application + network rules.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/>
            </a:pPr>
            <a:r>
              <a:rPr sz="1400">
                <a:solidFill>
                  <a:srgbClr val="142337"/>
                </a:solidFill>
                <a:latin typeface="Aptos"/>
              </a:rPr>
              <a:t>Presented by: CHINAPOTHULA VINAY</a:t>
            </a:r>
          </a:p>
        </p:txBody>
      </p:sp>
      <p:sp>
        <p:nvSpPr>
          <p:cNvPr id="5" name="Oval 4"/>
          <p:cNvSpPr/>
          <p:nvPr/>
        </p:nvSpPr>
        <p:spPr>
          <a:xfrm>
            <a:off x="10424160" y="-594360"/>
            <a:ext cx="2194560" cy="2194560"/>
          </a:xfrm>
          <a:prstGeom prst="ellipse">
            <a:avLst/>
          </a:prstGeom>
          <a:solidFill>
            <a:srgbClr val="307D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640080" y="5989320"/>
            <a:ext cx="1828800" cy="1828800"/>
          </a:xfrm>
          <a:prstGeom prst="ellipse">
            <a:avLst/>
          </a:prstGeom>
          <a:solidFill>
            <a:srgbClr val="4D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9738360" y="256032"/>
            <a:ext cx="502920" cy="228600"/>
          </a:xfrm>
          <a:prstGeom prst="line">
            <a:avLst/>
          </a:prstGeom>
          <a:ln w="10160">
            <a:solidFill>
              <a:srgbClr val="4DB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10241280" y="256032"/>
            <a:ext cx="502920" cy="228600"/>
          </a:xfrm>
          <a:prstGeom prst="line">
            <a:avLst/>
          </a:prstGeom>
          <a:ln w="10160">
            <a:solidFill>
              <a:srgbClr val="4DB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10451592" y="256032"/>
            <a:ext cx="292608" cy="457200"/>
          </a:xfrm>
          <a:prstGeom prst="line">
            <a:avLst/>
          </a:prstGeom>
          <a:ln w="10160">
            <a:solidFill>
              <a:srgbClr val="4DB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9697212" y="214884"/>
            <a:ext cx="82296" cy="82296"/>
          </a:xfrm>
          <a:prstGeom prst="ellipse">
            <a:avLst/>
          </a:prstGeom>
          <a:solidFill>
            <a:srgbClr val="4D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200132" y="443484"/>
            <a:ext cx="82296" cy="82296"/>
          </a:xfrm>
          <a:prstGeom prst="ellipse">
            <a:avLst/>
          </a:prstGeom>
          <a:solidFill>
            <a:srgbClr val="4D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703052" y="214884"/>
            <a:ext cx="82296" cy="82296"/>
          </a:xfrm>
          <a:prstGeom prst="ellipse">
            <a:avLst/>
          </a:prstGeom>
          <a:solidFill>
            <a:srgbClr val="4D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410444" y="672084"/>
            <a:ext cx="82296" cy="82296"/>
          </a:xfrm>
          <a:prstGeom prst="ellipse">
            <a:avLst/>
          </a:prstGeom>
          <a:solidFill>
            <a:srgbClr val="4D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594360" y="6446520"/>
            <a:ext cx="1417320" cy="0"/>
          </a:xfrm>
          <a:prstGeom prst="line">
            <a:avLst/>
          </a:prstGeom>
          <a:ln w="8890">
            <a:solidFill>
              <a:srgbClr val="4DB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103120" y="6382512"/>
            <a:ext cx="27432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42337"/>
                </a:solidFill>
                <a:latin typeface="Aptos"/>
              </a:rPr>
              <a:t>AZURE FIREWALL • EGRESS FILTERING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1400">
                <a:solidFill>
                  <a:srgbClr val="142337"/>
                </a:solidFill>
                <a:latin typeface="Aptos"/>
              </a:rPr>
              <a:t>Implementation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424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rPr sz="1400">
                <a:solidFill>
                  <a:srgbClr val="142337"/>
                </a:solidFill>
                <a:latin typeface="Aptos"/>
              </a:rPr>
              <a:t>1. Create resource group and hub/spoke VNets.</a:t>
            </a:r>
          </a:p>
          <a:p>
            <a:pPr>
              <a:spcAft>
                <a:spcPts val="1000"/>
              </a:spcAft>
              <a:defRPr sz="1800"/>
            </a:pPr>
            <a:r>
              <a:rPr sz="1400">
                <a:solidFill>
                  <a:srgbClr val="142337"/>
                </a:solidFill>
                <a:latin typeface="Aptos"/>
              </a:rPr>
              <a:t>2. Peer hub and spoke networks.</a:t>
            </a:r>
          </a:p>
          <a:p>
            <a:pPr>
              <a:spcAft>
                <a:spcPts val="1000"/>
              </a:spcAft>
              <a:defRPr sz="1800"/>
            </a:pPr>
            <a:r>
              <a:rPr sz="1400">
                <a:solidFill>
                  <a:srgbClr val="142337"/>
                </a:solidFill>
                <a:latin typeface="Aptos"/>
              </a:rPr>
              <a:t>3. Create the required Azure Firewall subnet.</a:t>
            </a:r>
          </a:p>
          <a:p>
            <a:pPr>
              <a:spcAft>
                <a:spcPts val="1000"/>
              </a:spcAft>
              <a:defRPr sz="1800"/>
            </a:pPr>
            <a:r>
              <a:rPr sz="1400">
                <a:solidFill>
                  <a:srgbClr val="142337"/>
                </a:solidFill>
                <a:latin typeface="Aptos"/>
              </a:rPr>
              <a:t>4. Deploy Azure Firewall and attach Firewall Policy.</a:t>
            </a:r>
          </a:p>
          <a:p>
            <a:pPr>
              <a:spcAft>
                <a:spcPts val="1000"/>
              </a:spcAft>
              <a:defRPr sz="1800"/>
            </a:pPr>
            <a:r>
              <a:rPr sz="1400">
                <a:solidFill>
                  <a:srgbClr val="142337"/>
                </a:solidFill>
                <a:latin typeface="Aptos"/>
              </a:rPr>
              <a:t>5. Create application and network rules for required traffic.</a:t>
            </a:r>
          </a:p>
          <a:p>
            <a:pPr>
              <a:spcAft>
                <a:spcPts val="1000"/>
              </a:spcAft>
              <a:defRPr sz="1800"/>
            </a:pPr>
            <a:r>
              <a:rPr sz="1400">
                <a:solidFill>
                  <a:srgbClr val="142337"/>
                </a:solidFill>
                <a:latin typeface="Aptos"/>
              </a:rPr>
              <a:t>6. Create UDR 0.0.0.0/0 → firewall private IP and associate it with workload subnets.</a:t>
            </a:r>
          </a:p>
          <a:p>
            <a:pPr>
              <a:spcAft>
                <a:spcPts val="1000"/>
              </a:spcAft>
              <a:defRPr sz="1800"/>
            </a:pPr>
            <a:r>
              <a:rPr sz="1400">
                <a:solidFill>
                  <a:srgbClr val="142337"/>
                </a:solidFill>
                <a:latin typeface="Aptos"/>
              </a:rPr>
              <a:t>7. Enable diagnostic logs and run positive/negative traffic tests.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/>
            </a:pPr>
            <a:r>
              <a:rPr sz="1400">
                <a:solidFill>
                  <a:srgbClr val="142337"/>
                </a:solidFill>
                <a:latin typeface="Aptos"/>
              </a:rPr>
              <a:t>Presented by: CHINAPOTHULA VINAY</a:t>
            </a:r>
          </a:p>
        </p:txBody>
      </p:sp>
      <p:sp>
        <p:nvSpPr>
          <p:cNvPr id="5" name="Oval 4"/>
          <p:cNvSpPr/>
          <p:nvPr/>
        </p:nvSpPr>
        <p:spPr>
          <a:xfrm>
            <a:off x="10424160" y="-594360"/>
            <a:ext cx="2194560" cy="2194560"/>
          </a:xfrm>
          <a:prstGeom prst="ellipse">
            <a:avLst/>
          </a:prstGeom>
          <a:solidFill>
            <a:srgbClr val="307D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640080" y="5989320"/>
            <a:ext cx="1828800" cy="1828800"/>
          </a:xfrm>
          <a:prstGeom prst="ellipse">
            <a:avLst/>
          </a:prstGeom>
          <a:solidFill>
            <a:srgbClr val="4D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9738360" y="256032"/>
            <a:ext cx="502920" cy="228600"/>
          </a:xfrm>
          <a:prstGeom prst="line">
            <a:avLst/>
          </a:prstGeom>
          <a:ln w="10160">
            <a:solidFill>
              <a:srgbClr val="4DB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10241280" y="256032"/>
            <a:ext cx="502920" cy="228600"/>
          </a:xfrm>
          <a:prstGeom prst="line">
            <a:avLst/>
          </a:prstGeom>
          <a:ln w="10160">
            <a:solidFill>
              <a:srgbClr val="4DB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10451592" y="256032"/>
            <a:ext cx="292608" cy="457200"/>
          </a:xfrm>
          <a:prstGeom prst="line">
            <a:avLst/>
          </a:prstGeom>
          <a:ln w="10160">
            <a:solidFill>
              <a:srgbClr val="4DB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9697212" y="214884"/>
            <a:ext cx="82296" cy="82296"/>
          </a:xfrm>
          <a:prstGeom prst="ellipse">
            <a:avLst/>
          </a:prstGeom>
          <a:solidFill>
            <a:srgbClr val="4D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200132" y="443484"/>
            <a:ext cx="82296" cy="82296"/>
          </a:xfrm>
          <a:prstGeom prst="ellipse">
            <a:avLst/>
          </a:prstGeom>
          <a:solidFill>
            <a:srgbClr val="4D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703052" y="214884"/>
            <a:ext cx="82296" cy="82296"/>
          </a:xfrm>
          <a:prstGeom prst="ellipse">
            <a:avLst/>
          </a:prstGeom>
          <a:solidFill>
            <a:srgbClr val="4D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410444" y="672084"/>
            <a:ext cx="82296" cy="82296"/>
          </a:xfrm>
          <a:prstGeom prst="ellipse">
            <a:avLst/>
          </a:prstGeom>
          <a:solidFill>
            <a:srgbClr val="4D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594360" y="6446520"/>
            <a:ext cx="1417320" cy="0"/>
          </a:xfrm>
          <a:prstGeom prst="line">
            <a:avLst/>
          </a:prstGeom>
          <a:ln w="8890">
            <a:solidFill>
              <a:srgbClr val="4DB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103120" y="6382512"/>
            <a:ext cx="27432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42337"/>
                </a:solidFill>
                <a:latin typeface="Aptos"/>
              </a:rPr>
              <a:t>AZURE FIREWALL • EGRESS FILTERING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1400">
                <a:solidFill>
                  <a:srgbClr val="142337"/>
                </a:solidFill>
                <a:latin typeface="Aptos"/>
              </a:rPr>
              <a:t>Configuration &amp;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424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rPr sz="1400">
                <a:solidFill>
                  <a:srgbClr val="142337"/>
                </a:solidFill>
                <a:latin typeface="Aptos"/>
              </a:rPr>
              <a:t>Deploy Azure Firewall in the dedicated firewall subnet and attach a Firewall Policy.</a:t>
            </a:r>
          </a:p>
          <a:p>
            <a:pPr>
              <a:spcAft>
                <a:spcPts val="1000"/>
              </a:spcAft>
              <a:defRPr sz="1800"/>
            </a:pPr>
            <a:r>
              <a:rPr sz="1400">
                <a:solidFill>
                  <a:srgbClr val="142337"/>
                </a:solidFill>
                <a:latin typeface="Aptos"/>
              </a:rPr>
              <a:t>Create application rules for approved websites or FQDNs.</a:t>
            </a:r>
          </a:p>
          <a:p>
            <a:pPr>
              <a:spcAft>
                <a:spcPts val="1000"/>
              </a:spcAft>
              <a:defRPr sz="1800"/>
            </a:pPr>
            <a:r>
              <a:rPr sz="1400">
                <a:solidFill>
                  <a:srgbClr val="142337"/>
                </a:solidFill>
                <a:latin typeface="Aptos"/>
              </a:rPr>
              <a:t>Create network rules for required IPs, ports and protocols.</a:t>
            </a:r>
          </a:p>
          <a:p>
            <a:pPr>
              <a:spcAft>
                <a:spcPts val="1000"/>
              </a:spcAft>
              <a:defRPr sz="1800"/>
            </a:pPr>
            <a:r>
              <a:rPr sz="1400">
                <a:solidFill>
                  <a:srgbClr val="142337"/>
                </a:solidFill>
                <a:latin typeface="Aptos"/>
              </a:rPr>
              <a:t>Use only the minimum rules required by the workload.</a:t>
            </a:r>
          </a:p>
          <a:p>
            <a:pPr>
              <a:spcAft>
                <a:spcPts val="1000"/>
              </a:spcAft>
              <a:defRPr sz="1800"/>
            </a:pPr>
            <a:r>
              <a:rPr sz="1400">
                <a:solidFill>
                  <a:srgbClr val="142337"/>
                </a:solidFill>
                <a:latin typeface="Aptos"/>
              </a:rPr>
              <a:t>Use Azure RBAC so only authorized administrators can change policies and routes.</a:t>
            </a:r>
          </a:p>
          <a:p>
            <a:pPr>
              <a:spcAft>
                <a:spcPts val="1000"/>
              </a:spcAft>
              <a:defRPr sz="1800"/>
            </a:pPr>
            <a:r>
              <a:rPr sz="1400">
                <a:solidFill>
                  <a:srgbClr val="142337"/>
                </a:solidFill>
                <a:latin typeface="Aptos"/>
              </a:rPr>
              <a:t>Keep workloads private where possible and avoid unnecessary public IPs.</a:t>
            </a:r>
          </a:p>
          <a:p>
            <a:pPr>
              <a:spcAft>
                <a:spcPts val="1000"/>
              </a:spcAft>
              <a:defRPr sz="1800"/>
            </a:pPr>
            <a:r>
              <a:rPr sz="1400">
                <a:solidFill>
                  <a:srgbClr val="142337"/>
                </a:solidFill>
                <a:latin typeface="Aptos"/>
              </a:rPr>
              <a:t>Use NSGs with Azure Firewall for defense in depth.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/>
            </a:pPr>
            <a:r>
              <a:rPr sz="1400">
                <a:solidFill>
                  <a:srgbClr val="142337"/>
                </a:solidFill>
                <a:latin typeface="Aptos"/>
              </a:rPr>
              <a:t>Presented by: KUNCHARAPU SURYA DEV</a:t>
            </a:r>
          </a:p>
        </p:txBody>
      </p:sp>
      <p:sp>
        <p:nvSpPr>
          <p:cNvPr id="5" name="Oval 4"/>
          <p:cNvSpPr/>
          <p:nvPr/>
        </p:nvSpPr>
        <p:spPr>
          <a:xfrm>
            <a:off x="10424160" y="-594360"/>
            <a:ext cx="2194560" cy="2194560"/>
          </a:xfrm>
          <a:prstGeom prst="ellipse">
            <a:avLst/>
          </a:prstGeom>
          <a:solidFill>
            <a:srgbClr val="307D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640080" y="5989320"/>
            <a:ext cx="1828800" cy="1828800"/>
          </a:xfrm>
          <a:prstGeom prst="ellipse">
            <a:avLst/>
          </a:prstGeom>
          <a:solidFill>
            <a:srgbClr val="4D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9738360" y="256032"/>
            <a:ext cx="502920" cy="228600"/>
          </a:xfrm>
          <a:prstGeom prst="line">
            <a:avLst/>
          </a:prstGeom>
          <a:ln w="10160">
            <a:solidFill>
              <a:srgbClr val="4DB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10241280" y="256032"/>
            <a:ext cx="502920" cy="228600"/>
          </a:xfrm>
          <a:prstGeom prst="line">
            <a:avLst/>
          </a:prstGeom>
          <a:ln w="10160">
            <a:solidFill>
              <a:srgbClr val="4DB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10451592" y="256032"/>
            <a:ext cx="292608" cy="457200"/>
          </a:xfrm>
          <a:prstGeom prst="line">
            <a:avLst/>
          </a:prstGeom>
          <a:ln w="10160">
            <a:solidFill>
              <a:srgbClr val="4DB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9697212" y="214884"/>
            <a:ext cx="82296" cy="82296"/>
          </a:xfrm>
          <a:prstGeom prst="ellipse">
            <a:avLst/>
          </a:prstGeom>
          <a:solidFill>
            <a:srgbClr val="4D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200132" y="443484"/>
            <a:ext cx="82296" cy="82296"/>
          </a:xfrm>
          <a:prstGeom prst="ellipse">
            <a:avLst/>
          </a:prstGeom>
          <a:solidFill>
            <a:srgbClr val="4D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703052" y="214884"/>
            <a:ext cx="82296" cy="82296"/>
          </a:xfrm>
          <a:prstGeom prst="ellipse">
            <a:avLst/>
          </a:prstGeom>
          <a:solidFill>
            <a:srgbClr val="4D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410444" y="672084"/>
            <a:ext cx="82296" cy="82296"/>
          </a:xfrm>
          <a:prstGeom prst="ellipse">
            <a:avLst/>
          </a:prstGeom>
          <a:solidFill>
            <a:srgbClr val="4D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594360" y="6446520"/>
            <a:ext cx="1417320" cy="0"/>
          </a:xfrm>
          <a:prstGeom prst="line">
            <a:avLst/>
          </a:prstGeom>
          <a:ln w="8890">
            <a:solidFill>
              <a:srgbClr val="4DB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103120" y="6382512"/>
            <a:ext cx="27432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42337"/>
                </a:solidFill>
                <a:latin typeface="Aptos"/>
              </a:rPr>
              <a:t>AZURE FIREWALL • EGRESS FILTERING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1400">
                <a:solidFill>
                  <a:srgbClr val="142337"/>
                </a:solidFill>
                <a:latin typeface="Aptos"/>
              </a:rPr>
              <a:t>Networking &amp; Routing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424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rPr sz="1400">
                <a:solidFill>
                  <a:srgbClr val="142337"/>
                </a:solidFill>
                <a:latin typeface="Aptos"/>
              </a:rPr>
              <a:t>Traffic path: Workload VM → Spoke UDR → Hub Firewall → Internet.</a:t>
            </a:r>
          </a:p>
          <a:p>
            <a:pPr>
              <a:spcAft>
                <a:spcPts val="1000"/>
              </a:spcAft>
              <a:defRPr sz="1800"/>
            </a:pPr>
            <a:r>
              <a:rPr sz="1400">
                <a:solidFill>
                  <a:srgbClr val="142337"/>
                </a:solidFill>
                <a:latin typeface="Aptos"/>
              </a:rPr>
              <a:t>UDR 0.0.0.0/0 forces Internet-bound traffic to the firewall.</a:t>
            </a:r>
          </a:p>
          <a:p>
            <a:pPr>
              <a:spcAft>
                <a:spcPts val="1000"/>
              </a:spcAft>
              <a:defRPr sz="1800"/>
            </a:pPr>
            <a:r>
              <a:rPr sz="1400">
                <a:solidFill>
                  <a:srgbClr val="142337"/>
                </a:solidFill>
                <a:latin typeface="Aptos"/>
              </a:rPr>
              <a:t>Next hop is the firewall private IP.</a:t>
            </a:r>
          </a:p>
          <a:p>
            <a:pPr>
              <a:spcAft>
                <a:spcPts val="1000"/>
              </a:spcAft>
              <a:defRPr sz="1800"/>
            </a:pPr>
            <a:r>
              <a:rPr sz="1400">
                <a:solidFill>
                  <a:srgbClr val="142337"/>
                </a:solidFill>
                <a:latin typeface="Aptos"/>
              </a:rPr>
              <a:t>Hub VNet: 10.0.0.0/16; Firewall subnet: 10.0.1.0/26.</a:t>
            </a:r>
          </a:p>
          <a:p>
            <a:pPr>
              <a:spcAft>
                <a:spcPts val="1000"/>
              </a:spcAft>
              <a:defRPr sz="1800"/>
            </a:pPr>
            <a:r>
              <a:rPr sz="1400">
                <a:solidFill>
                  <a:srgbClr val="142337"/>
                </a:solidFill>
                <a:latin typeface="Aptos"/>
              </a:rPr>
              <a:t>Workload VNet: 10.1.0.0/16; Workload subnet: 10.1.1.0/24.</a:t>
            </a:r>
          </a:p>
          <a:p>
            <a:pPr>
              <a:spcAft>
                <a:spcPts val="1000"/>
              </a:spcAft>
              <a:defRPr sz="1800"/>
            </a:pPr>
            <a:r>
              <a:rPr sz="1400">
                <a:solidFill>
                  <a:srgbClr val="142337"/>
                </a:solidFill>
                <a:latin typeface="Aptos"/>
              </a:rPr>
              <a:t>DNS can use Azure DNS or a controlled DNS path for reliable FQDN resolution.</a:t>
            </a:r>
          </a:p>
          <a:p>
            <a:pPr>
              <a:spcAft>
                <a:spcPts val="1000"/>
              </a:spcAft>
              <a:defRPr sz="1800"/>
            </a:pPr>
            <a:r>
              <a:rPr sz="1400">
                <a:solidFill>
                  <a:srgbClr val="142337"/>
                </a:solidFill>
                <a:latin typeface="Aptos"/>
              </a:rPr>
              <a:t>The response returns through the stateful firewall.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/>
            </a:pPr>
            <a:r>
              <a:rPr sz="1400">
                <a:solidFill>
                  <a:srgbClr val="142337"/>
                </a:solidFill>
                <a:latin typeface="Aptos"/>
              </a:rPr>
              <a:t>Presented by: KUNCHARAPU SURYA DEV</a:t>
            </a:r>
          </a:p>
        </p:txBody>
      </p:sp>
      <p:sp>
        <p:nvSpPr>
          <p:cNvPr id="5" name="Oval 4"/>
          <p:cNvSpPr/>
          <p:nvPr/>
        </p:nvSpPr>
        <p:spPr>
          <a:xfrm>
            <a:off x="10424160" y="-594360"/>
            <a:ext cx="2194560" cy="2194560"/>
          </a:xfrm>
          <a:prstGeom prst="ellipse">
            <a:avLst/>
          </a:prstGeom>
          <a:solidFill>
            <a:srgbClr val="307D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640080" y="5989320"/>
            <a:ext cx="1828800" cy="1828800"/>
          </a:xfrm>
          <a:prstGeom prst="ellipse">
            <a:avLst/>
          </a:prstGeom>
          <a:solidFill>
            <a:srgbClr val="4D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9738360" y="256032"/>
            <a:ext cx="502920" cy="228600"/>
          </a:xfrm>
          <a:prstGeom prst="line">
            <a:avLst/>
          </a:prstGeom>
          <a:ln w="10160">
            <a:solidFill>
              <a:srgbClr val="4DB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10241280" y="256032"/>
            <a:ext cx="502920" cy="228600"/>
          </a:xfrm>
          <a:prstGeom prst="line">
            <a:avLst/>
          </a:prstGeom>
          <a:ln w="10160">
            <a:solidFill>
              <a:srgbClr val="4DB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10451592" y="256032"/>
            <a:ext cx="292608" cy="457200"/>
          </a:xfrm>
          <a:prstGeom prst="line">
            <a:avLst/>
          </a:prstGeom>
          <a:ln w="10160">
            <a:solidFill>
              <a:srgbClr val="4DB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9697212" y="214884"/>
            <a:ext cx="82296" cy="82296"/>
          </a:xfrm>
          <a:prstGeom prst="ellipse">
            <a:avLst/>
          </a:prstGeom>
          <a:solidFill>
            <a:srgbClr val="4D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200132" y="443484"/>
            <a:ext cx="82296" cy="82296"/>
          </a:xfrm>
          <a:prstGeom prst="ellipse">
            <a:avLst/>
          </a:prstGeom>
          <a:solidFill>
            <a:srgbClr val="4D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703052" y="214884"/>
            <a:ext cx="82296" cy="82296"/>
          </a:xfrm>
          <a:prstGeom prst="ellipse">
            <a:avLst/>
          </a:prstGeom>
          <a:solidFill>
            <a:srgbClr val="4D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410444" y="672084"/>
            <a:ext cx="82296" cy="82296"/>
          </a:xfrm>
          <a:prstGeom prst="ellipse">
            <a:avLst/>
          </a:prstGeom>
          <a:solidFill>
            <a:srgbClr val="4D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594360" y="6446520"/>
            <a:ext cx="1417320" cy="0"/>
          </a:xfrm>
          <a:prstGeom prst="line">
            <a:avLst/>
          </a:prstGeom>
          <a:ln w="8890">
            <a:solidFill>
              <a:srgbClr val="4DB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103120" y="6382512"/>
            <a:ext cx="27432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42337"/>
                </a:solidFill>
                <a:latin typeface="Aptos"/>
              </a:rPr>
              <a:t>AZURE FIREWALL • EGRESS FILTERING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1400">
                <a:solidFill>
                  <a:srgbClr val="142337"/>
                </a:solidFill>
                <a:latin typeface="Aptos"/>
              </a:rPr>
              <a:t>Storage &amp; Logging Configuration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424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rPr sz="1400">
                <a:solidFill>
                  <a:srgbClr val="142337"/>
                </a:solidFill>
                <a:latin typeface="Aptos"/>
              </a:rPr>
              <a:t>Log Analytics Workspace is the primary target for firewall diagnostic logs.</a:t>
            </a:r>
          </a:p>
          <a:p>
            <a:pPr>
              <a:spcAft>
                <a:spcPts val="1000"/>
              </a:spcAft>
              <a:defRPr sz="1800"/>
            </a:pPr>
            <a:r>
              <a:rPr sz="1400">
                <a:solidFill>
                  <a:srgbClr val="142337"/>
                </a:solidFill>
                <a:latin typeface="Aptos"/>
              </a:rPr>
              <a:t>Logs can be searched and analyzed for troubleshooting and auditing.</a:t>
            </a:r>
          </a:p>
          <a:p>
            <a:pPr>
              <a:spcAft>
                <a:spcPts val="1000"/>
              </a:spcAft>
              <a:defRPr sz="1800"/>
            </a:pPr>
            <a:r>
              <a:rPr sz="1400">
                <a:solidFill>
                  <a:srgbClr val="142337"/>
                </a:solidFill>
                <a:latin typeface="Aptos"/>
              </a:rPr>
              <a:t>Azure Storage can be used for longer-term log retention or export.</a:t>
            </a:r>
          </a:p>
          <a:p>
            <a:pPr>
              <a:spcAft>
                <a:spcPts val="1000"/>
              </a:spcAft>
              <a:defRPr sz="1800"/>
            </a:pPr>
            <a:r>
              <a:rPr sz="1400">
                <a:solidFill>
                  <a:srgbClr val="142337"/>
                </a:solidFill>
                <a:latin typeface="Aptos"/>
              </a:rPr>
              <a:t>Choose appropriate log plans and retention.</a:t>
            </a:r>
          </a:p>
          <a:p>
            <a:pPr>
              <a:spcAft>
                <a:spcPts val="1000"/>
              </a:spcAft>
              <a:defRPr sz="1800"/>
            </a:pPr>
            <a:r>
              <a:rPr sz="1400">
                <a:solidFill>
                  <a:srgbClr val="142337"/>
                </a:solidFill>
                <a:latin typeface="Aptos"/>
              </a:rPr>
              <a:t>Avoid collecting unnecessary high-volume logs to control cost.</a:t>
            </a:r>
          </a:p>
          <a:p>
            <a:pPr>
              <a:spcAft>
                <a:spcPts val="1000"/>
              </a:spcAft>
              <a:defRPr sz="1800"/>
            </a:pPr>
            <a:r>
              <a:rPr sz="1400">
                <a:solidFill>
                  <a:srgbClr val="142337"/>
                </a:solidFill>
                <a:latin typeface="Aptos"/>
              </a:rPr>
              <a:t>Required logs and retention should match the monitoring and audit needs.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/>
            </a:pPr>
            <a:r>
              <a:rPr sz="1400">
                <a:solidFill>
                  <a:srgbClr val="142337"/>
                </a:solidFill>
                <a:latin typeface="Aptos"/>
              </a:rPr>
              <a:t>Presented by: KUNCHARAPU SURYA DEV</a:t>
            </a:r>
          </a:p>
        </p:txBody>
      </p:sp>
      <p:sp>
        <p:nvSpPr>
          <p:cNvPr id="5" name="Oval 4"/>
          <p:cNvSpPr/>
          <p:nvPr/>
        </p:nvSpPr>
        <p:spPr>
          <a:xfrm>
            <a:off x="10424160" y="-594360"/>
            <a:ext cx="2194560" cy="2194560"/>
          </a:xfrm>
          <a:prstGeom prst="ellipse">
            <a:avLst/>
          </a:prstGeom>
          <a:solidFill>
            <a:srgbClr val="307D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640080" y="5989320"/>
            <a:ext cx="1828800" cy="1828800"/>
          </a:xfrm>
          <a:prstGeom prst="ellipse">
            <a:avLst/>
          </a:prstGeom>
          <a:solidFill>
            <a:srgbClr val="4D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9738360" y="256032"/>
            <a:ext cx="502920" cy="228600"/>
          </a:xfrm>
          <a:prstGeom prst="line">
            <a:avLst/>
          </a:prstGeom>
          <a:ln w="10160">
            <a:solidFill>
              <a:srgbClr val="4DB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10241280" y="256032"/>
            <a:ext cx="502920" cy="228600"/>
          </a:xfrm>
          <a:prstGeom prst="line">
            <a:avLst/>
          </a:prstGeom>
          <a:ln w="10160">
            <a:solidFill>
              <a:srgbClr val="4DB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10451592" y="256032"/>
            <a:ext cx="292608" cy="457200"/>
          </a:xfrm>
          <a:prstGeom prst="line">
            <a:avLst/>
          </a:prstGeom>
          <a:ln w="10160">
            <a:solidFill>
              <a:srgbClr val="4DB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9697212" y="214884"/>
            <a:ext cx="82296" cy="82296"/>
          </a:xfrm>
          <a:prstGeom prst="ellipse">
            <a:avLst/>
          </a:prstGeom>
          <a:solidFill>
            <a:srgbClr val="4D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200132" y="443484"/>
            <a:ext cx="82296" cy="82296"/>
          </a:xfrm>
          <a:prstGeom prst="ellipse">
            <a:avLst/>
          </a:prstGeom>
          <a:solidFill>
            <a:srgbClr val="4D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703052" y="214884"/>
            <a:ext cx="82296" cy="82296"/>
          </a:xfrm>
          <a:prstGeom prst="ellipse">
            <a:avLst/>
          </a:prstGeom>
          <a:solidFill>
            <a:srgbClr val="4D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410444" y="672084"/>
            <a:ext cx="82296" cy="82296"/>
          </a:xfrm>
          <a:prstGeom prst="ellipse">
            <a:avLst/>
          </a:prstGeom>
          <a:solidFill>
            <a:srgbClr val="4D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0" y="5166360"/>
            <a:ext cx="1371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142337"/>
                </a:solidFill>
                <a:latin typeface="Aptos"/>
              </a:rPr>
              <a:t>TRAFFIC PATH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4360" y="6446520"/>
            <a:ext cx="1417320" cy="0"/>
          </a:xfrm>
          <a:prstGeom prst="line">
            <a:avLst/>
          </a:prstGeom>
          <a:ln w="8890">
            <a:solidFill>
              <a:srgbClr val="4DB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103120" y="6382512"/>
            <a:ext cx="27432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42337"/>
                </a:solidFill>
                <a:latin typeface="Aptos"/>
              </a:rPr>
              <a:t>AZURE FIREWALL • EGRESS FILTERING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1400">
                <a:solidFill>
                  <a:srgbClr val="142337"/>
                </a:solidFill>
                <a:latin typeface="Aptos"/>
              </a:rPr>
              <a:t>Monitoring &amp;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424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rPr sz="1400">
                <a:solidFill>
                  <a:srgbClr val="142337"/>
                </a:solidFill>
                <a:latin typeface="Aptos"/>
              </a:rPr>
              <a:t>Azure Monitor helps observe the Azure environment.</a:t>
            </a:r>
          </a:p>
          <a:p>
            <a:pPr>
              <a:spcAft>
                <a:spcPts val="1000"/>
              </a:spcAft>
              <a:defRPr sz="1800"/>
            </a:pPr>
            <a:r>
              <a:rPr sz="1400">
                <a:solidFill>
                  <a:srgbClr val="142337"/>
                </a:solidFill>
                <a:latin typeface="Aptos"/>
              </a:rPr>
              <a:t>Log Analytics lets us search and analyze firewall logs.</a:t>
            </a:r>
          </a:p>
          <a:p>
            <a:pPr>
              <a:spcAft>
                <a:spcPts val="1000"/>
              </a:spcAft>
              <a:defRPr sz="1800"/>
            </a:pPr>
            <a:r>
              <a:rPr sz="1400">
                <a:solidFill>
                  <a:srgbClr val="142337"/>
                </a:solidFill>
                <a:latin typeface="Aptos"/>
              </a:rPr>
              <a:t>We can see allowed and denied traffic and investigate blocked connections.</a:t>
            </a:r>
          </a:p>
          <a:p>
            <a:pPr>
              <a:spcAft>
                <a:spcPts val="1000"/>
              </a:spcAft>
              <a:defRPr sz="1800"/>
            </a:pPr>
            <a:r>
              <a:rPr sz="1400">
                <a:solidFill>
                  <a:srgbClr val="142337"/>
                </a:solidFill>
                <a:latin typeface="Aptos"/>
              </a:rPr>
              <a:t>Alerts and dashboards can be added for important events.</a:t>
            </a:r>
          </a:p>
          <a:p>
            <a:pPr>
              <a:spcAft>
                <a:spcPts val="1000"/>
              </a:spcAft>
              <a:defRPr sz="1800"/>
            </a:pPr>
            <a:r>
              <a:rPr sz="1400">
                <a:solidFill>
                  <a:srgbClr val="142337"/>
                </a:solidFill>
                <a:latin typeface="Aptos"/>
              </a:rPr>
              <a:t>KQL can query time, action, source IP, destination FQDN/IP and rule collection.</a:t>
            </a:r>
          </a:p>
          <a:p>
            <a:pPr>
              <a:spcAft>
                <a:spcPts val="1000"/>
              </a:spcAft>
              <a:defRPr sz="1800"/>
            </a:pPr>
            <a:r>
              <a:rPr sz="1400">
                <a:solidFill>
                  <a:srgbClr val="142337"/>
                </a:solidFill>
                <a:latin typeface="Aptos"/>
              </a:rPr>
              <a:t>Management cycle: Observe → investigate → update rule → test → monitor again.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/>
            </a:pPr>
            <a:r>
              <a:rPr sz="1400">
                <a:solidFill>
                  <a:srgbClr val="142337"/>
                </a:solidFill>
                <a:latin typeface="Aptos"/>
              </a:rPr>
              <a:t>Presented by: KUNCHARAPU SURYA DEV</a:t>
            </a:r>
          </a:p>
        </p:txBody>
      </p:sp>
      <p:sp>
        <p:nvSpPr>
          <p:cNvPr id="5" name="Oval 4"/>
          <p:cNvSpPr/>
          <p:nvPr/>
        </p:nvSpPr>
        <p:spPr>
          <a:xfrm>
            <a:off x="10424160" y="-594360"/>
            <a:ext cx="2194560" cy="2194560"/>
          </a:xfrm>
          <a:prstGeom prst="ellipse">
            <a:avLst/>
          </a:prstGeom>
          <a:solidFill>
            <a:srgbClr val="307D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640080" y="5989320"/>
            <a:ext cx="1828800" cy="1828800"/>
          </a:xfrm>
          <a:prstGeom prst="ellipse">
            <a:avLst/>
          </a:prstGeom>
          <a:solidFill>
            <a:srgbClr val="4D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9738360" y="256032"/>
            <a:ext cx="502920" cy="228600"/>
          </a:xfrm>
          <a:prstGeom prst="line">
            <a:avLst/>
          </a:prstGeom>
          <a:ln w="10160">
            <a:solidFill>
              <a:srgbClr val="4DB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10241280" y="256032"/>
            <a:ext cx="502920" cy="228600"/>
          </a:xfrm>
          <a:prstGeom prst="line">
            <a:avLst/>
          </a:prstGeom>
          <a:ln w="10160">
            <a:solidFill>
              <a:srgbClr val="4DB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10451592" y="256032"/>
            <a:ext cx="292608" cy="457200"/>
          </a:xfrm>
          <a:prstGeom prst="line">
            <a:avLst/>
          </a:prstGeom>
          <a:ln w="10160">
            <a:solidFill>
              <a:srgbClr val="4DB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9697212" y="214884"/>
            <a:ext cx="82296" cy="82296"/>
          </a:xfrm>
          <a:prstGeom prst="ellipse">
            <a:avLst/>
          </a:prstGeom>
          <a:solidFill>
            <a:srgbClr val="4D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200132" y="443484"/>
            <a:ext cx="82296" cy="82296"/>
          </a:xfrm>
          <a:prstGeom prst="ellipse">
            <a:avLst/>
          </a:prstGeom>
          <a:solidFill>
            <a:srgbClr val="4D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703052" y="214884"/>
            <a:ext cx="82296" cy="82296"/>
          </a:xfrm>
          <a:prstGeom prst="ellipse">
            <a:avLst/>
          </a:prstGeom>
          <a:solidFill>
            <a:srgbClr val="4D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410444" y="672084"/>
            <a:ext cx="82296" cy="82296"/>
          </a:xfrm>
          <a:prstGeom prst="ellipse">
            <a:avLst/>
          </a:prstGeom>
          <a:solidFill>
            <a:srgbClr val="4D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594360" y="6446520"/>
            <a:ext cx="1417320" cy="0"/>
          </a:xfrm>
          <a:prstGeom prst="line">
            <a:avLst/>
          </a:prstGeom>
          <a:ln w="8890">
            <a:solidFill>
              <a:srgbClr val="4DB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103120" y="6382512"/>
            <a:ext cx="27432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42337"/>
                </a:solidFill>
                <a:latin typeface="Aptos"/>
              </a:rPr>
              <a:t>AZURE FIREWALL • EGRESS FILTERING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1400">
                <a:solidFill>
                  <a:srgbClr val="142337"/>
                </a:solidFill>
                <a:latin typeface="Aptos"/>
              </a:rPr>
              <a:t>Testing, Challenges &amp;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424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rPr sz="1400">
                <a:solidFill>
                  <a:srgbClr val="142337"/>
                </a:solidFill>
                <a:latin typeface="Aptos"/>
              </a:rPr>
              <a:t>Validation principle: test both positive (allow) and negative (deny) cases.</a:t>
            </a:r>
          </a:p>
          <a:p>
            <a:pPr>
              <a:spcAft>
                <a:spcPts val="1000"/>
              </a:spcAft>
              <a:defRPr sz="1800"/>
            </a:pPr>
            <a:r>
              <a:rPr sz="1400">
                <a:solidFill>
                  <a:srgbClr val="142337"/>
                </a:solidFill>
                <a:latin typeface="Aptos"/>
              </a:rPr>
              <a:t>Approved website → connection succeeds; blocked website → connection fails.</a:t>
            </a:r>
          </a:p>
          <a:p>
            <a:pPr>
              <a:spcAft>
                <a:spcPts val="1000"/>
              </a:spcAft>
              <a:defRPr sz="1800"/>
            </a:pPr>
            <a:r>
              <a:rPr sz="1400">
                <a:solidFill>
                  <a:srgbClr val="142337"/>
                </a:solidFill>
                <a:latin typeface="Aptos"/>
              </a:rPr>
              <a:t>Allowed port → succeeds; blocked port → fails.</a:t>
            </a:r>
          </a:p>
          <a:p>
            <a:pPr>
              <a:spcAft>
                <a:spcPts val="1000"/>
              </a:spcAft>
              <a:defRPr sz="1800"/>
            </a:pPr>
            <a:r>
              <a:rPr sz="1400">
                <a:solidFill>
                  <a:srgbClr val="142337"/>
                </a:solidFill>
                <a:latin typeface="Aptos"/>
              </a:rPr>
              <a:t>UDR test → traffic reaches the firewall; verify effective routes.</a:t>
            </a:r>
          </a:p>
          <a:p>
            <a:pPr>
              <a:spcAft>
                <a:spcPts val="1000"/>
              </a:spcAft>
              <a:defRPr sz="1800"/>
            </a:pPr>
            <a:r>
              <a:rPr sz="1400">
                <a:solidFill>
                  <a:srgbClr val="142337"/>
                </a:solidFill>
                <a:latin typeface="Aptos"/>
              </a:rPr>
              <a:t>Logging test → events appear in Log Analytics and can be checked with KQL.</a:t>
            </a:r>
          </a:p>
          <a:p>
            <a:pPr>
              <a:spcAft>
                <a:spcPts val="1000"/>
              </a:spcAft>
              <a:defRPr sz="1800"/>
            </a:pPr>
            <a:r>
              <a:rPr sz="1400">
                <a:solidFill>
                  <a:srgbClr val="142337"/>
                </a:solidFill>
                <a:latin typeface="Aptos"/>
              </a:rPr>
              <a:t>Common fixes: check UDRs, firewall rules, DNS resolution, conflicting routes and log volume.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/>
            </a:pPr>
            <a:r>
              <a:rPr sz="1400">
                <a:solidFill>
                  <a:srgbClr val="142337"/>
                </a:solidFill>
                <a:latin typeface="Aptos"/>
              </a:rPr>
              <a:t>Presented by: KOLETI KUNDHANA SIRI</a:t>
            </a:r>
          </a:p>
        </p:txBody>
      </p:sp>
      <p:sp>
        <p:nvSpPr>
          <p:cNvPr id="5" name="Oval 4"/>
          <p:cNvSpPr/>
          <p:nvPr/>
        </p:nvSpPr>
        <p:spPr>
          <a:xfrm>
            <a:off x="10424160" y="-594360"/>
            <a:ext cx="2194560" cy="2194560"/>
          </a:xfrm>
          <a:prstGeom prst="ellipse">
            <a:avLst/>
          </a:prstGeom>
          <a:solidFill>
            <a:srgbClr val="307D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640080" y="5989320"/>
            <a:ext cx="1828800" cy="1828800"/>
          </a:xfrm>
          <a:prstGeom prst="ellipse">
            <a:avLst/>
          </a:prstGeom>
          <a:solidFill>
            <a:srgbClr val="4D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9738360" y="256032"/>
            <a:ext cx="502920" cy="228600"/>
          </a:xfrm>
          <a:prstGeom prst="line">
            <a:avLst/>
          </a:prstGeom>
          <a:ln w="10160">
            <a:solidFill>
              <a:srgbClr val="4DB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10241280" y="256032"/>
            <a:ext cx="502920" cy="228600"/>
          </a:xfrm>
          <a:prstGeom prst="line">
            <a:avLst/>
          </a:prstGeom>
          <a:ln w="10160">
            <a:solidFill>
              <a:srgbClr val="4DB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10451592" y="256032"/>
            <a:ext cx="292608" cy="457200"/>
          </a:xfrm>
          <a:prstGeom prst="line">
            <a:avLst/>
          </a:prstGeom>
          <a:ln w="10160">
            <a:solidFill>
              <a:srgbClr val="4DB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9697212" y="214884"/>
            <a:ext cx="82296" cy="82296"/>
          </a:xfrm>
          <a:prstGeom prst="ellipse">
            <a:avLst/>
          </a:prstGeom>
          <a:solidFill>
            <a:srgbClr val="4D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200132" y="443484"/>
            <a:ext cx="82296" cy="82296"/>
          </a:xfrm>
          <a:prstGeom prst="ellipse">
            <a:avLst/>
          </a:prstGeom>
          <a:solidFill>
            <a:srgbClr val="4D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703052" y="214884"/>
            <a:ext cx="82296" cy="82296"/>
          </a:xfrm>
          <a:prstGeom prst="ellipse">
            <a:avLst/>
          </a:prstGeom>
          <a:solidFill>
            <a:srgbClr val="4D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410444" y="672084"/>
            <a:ext cx="82296" cy="82296"/>
          </a:xfrm>
          <a:prstGeom prst="ellipse">
            <a:avLst/>
          </a:prstGeom>
          <a:solidFill>
            <a:srgbClr val="4D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8412480" y="5349240"/>
            <a:ext cx="320040" cy="0"/>
          </a:xfrm>
          <a:prstGeom prst="line">
            <a:avLst/>
          </a:prstGeom>
          <a:ln w="13970">
            <a:solidFill>
              <a:srgbClr val="4DB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8732520" y="5074920"/>
            <a:ext cx="155448" cy="274320"/>
          </a:xfrm>
          <a:prstGeom prst="line">
            <a:avLst/>
          </a:prstGeom>
          <a:ln w="13970">
            <a:solidFill>
              <a:srgbClr val="4DB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887968" y="5074920"/>
            <a:ext cx="182880" cy="393192"/>
          </a:xfrm>
          <a:prstGeom prst="line">
            <a:avLst/>
          </a:prstGeom>
          <a:ln w="13970">
            <a:solidFill>
              <a:srgbClr val="4DB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9070848" y="5212080"/>
            <a:ext cx="256032" cy="256032"/>
          </a:xfrm>
          <a:prstGeom prst="line">
            <a:avLst/>
          </a:prstGeom>
          <a:ln w="13970">
            <a:solidFill>
              <a:srgbClr val="4DB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326880" y="5212080"/>
            <a:ext cx="320040" cy="0"/>
          </a:xfrm>
          <a:prstGeom prst="line">
            <a:avLst/>
          </a:prstGeom>
          <a:ln w="13970">
            <a:solidFill>
              <a:srgbClr val="4DB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9555480" y="5285232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 b="1">
                <a:solidFill>
                  <a:srgbClr val="142337"/>
                </a:solidFill>
                <a:latin typeface="Aptos"/>
              </a:rPr>
              <a:t>LIVE LOG SIGNAL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4360" y="6446520"/>
            <a:ext cx="1417320" cy="0"/>
          </a:xfrm>
          <a:prstGeom prst="line">
            <a:avLst/>
          </a:prstGeom>
          <a:ln w="8890">
            <a:solidFill>
              <a:srgbClr val="4DB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2103120" y="6382512"/>
            <a:ext cx="27432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42337"/>
                </a:solidFill>
                <a:latin typeface="Aptos"/>
              </a:rPr>
              <a:t>AZURE FIREWALL • EGRESS FILTERING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1400">
                <a:solidFill>
                  <a:srgbClr val="142337"/>
                </a:solidFill>
                <a:latin typeface="Aptos"/>
              </a:rPr>
              <a:t>Performance, Results &amp; Cost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424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rPr sz="1400">
                <a:solidFill>
                  <a:srgbClr val="142337"/>
                </a:solidFill>
                <a:latin typeface="Aptos"/>
              </a:rPr>
              <a:t>Internet-bound workload traffic is redirected to the centralized firewall using UDRs.</a:t>
            </a:r>
          </a:p>
          <a:p>
            <a:pPr>
              <a:spcAft>
                <a:spcPts val="1000"/>
              </a:spcAft>
              <a:defRPr sz="1800"/>
            </a:pPr>
            <a:r>
              <a:rPr sz="1400">
                <a:solidFill>
                  <a:srgbClr val="142337"/>
                </a:solidFill>
                <a:latin typeface="Aptos"/>
              </a:rPr>
              <a:t>Approved destinations can be allowed while unauthorized destinations are denied.</a:t>
            </a:r>
          </a:p>
          <a:p>
            <a:pPr>
              <a:spcAft>
                <a:spcPts val="1000"/>
              </a:spcAft>
              <a:defRPr sz="1800"/>
            </a:pPr>
            <a:r>
              <a:rPr sz="1400">
                <a:solidFill>
                  <a:srgbClr val="142337"/>
                </a:solidFill>
                <a:latin typeface="Aptos"/>
              </a:rPr>
              <a:t>Firewall diagnostics can be sent to Azure Monitor / Log Analytics.</a:t>
            </a:r>
          </a:p>
          <a:p>
            <a:pPr>
              <a:spcAft>
                <a:spcPts val="1000"/>
              </a:spcAft>
              <a:defRPr sz="1800"/>
            </a:pPr>
            <a:r>
              <a:rPr sz="1400">
                <a:solidFill>
                  <a:srgbClr val="142337"/>
                </a:solidFill>
                <a:latin typeface="Aptos"/>
              </a:rPr>
              <a:t>The design can support additional workload networks.</a:t>
            </a:r>
          </a:p>
          <a:p>
            <a:pPr>
              <a:spcAft>
                <a:spcPts val="1000"/>
              </a:spcAft>
              <a:defRPr sz="1800"/>
            </a:pPr>
            <a:r>
              <a:rPr sz="1400">
                <a:solidFill>
                  <a:srgbClr val="142337"/>
                </a:solidFill>
                <a:latin typeface="Aptos"/>
              </a:rPr>
              <a:t>Azure Firewall and VM are paid resources; Log Analytics is usage-based.</a:t>
            </a:r>
          </a:p>
          <a:p>
            <a:pPr>
              <a:spcAft>
                <a:spcPts val="1000"/>
              </a:spcAft>
              <a:defRPr sz="1800"/>
            </a:pPr>
            <a:r>
              <a:rPr sz="1400">
                <a:solidFill>
                  <a:srgbClr val="142337"/>
                </a:solidFill>
                <a:latin typeface="Aptos"/>
              </a:rPr>
              <a:t>VMs can be deallocated when not in use; use public IPs only when needed.</a:t>
            </a:r>
          </a:p>
          <a:p>
            <a:pPr>
              <a:spcAft>
                <a:spcPts val="1000"/>
              </a:spcAft>
              <a:defRPr sz="1800"/>
            </a:pPr>
            <a:r>
              <a:rPr sz="1400">
                <a:solidFill>
                  <a:srgbClr val="142337"/>
                </a:solidFill>
                <a:latin typeface="Aptos"/>
              </a:rPr>
              <a:t>Actual performance should be measured for the selected Azure SKU and workload.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/>
            </a:pPr>
            <a:r>
              <a:rPr sz="1400">
                <a:solidFill>
                  <a:srgbClr val="142337"/>
                </a:solidFill>
                <a:latin typeface="Aptos"/>
              </a:rPr>
              <a:t>Presented by: KOLETI KUNDHANA SIRI</a:t>
            </a:r>
          </a:p>
        </p:txBody>
      </p:sp>
      <p:sp>
        <p:nvSpPr>
          <p:cNvPr id="5" name="Oval 4"/>
          <p:cNvSpPr/>
          <p:nvPr/>
        </p:nvSpPr>
        <p:spPr>
          <a:xfrm>
            <a:off x="10424160" y="-594360"/>
            <a:ext cx="2194560" cy="2194560"/>
          </a:xfrm>
          <a:prstGeom prst="ellipse">
            <a:avLst/>
          </a:prstGeom>
          <a:solidFill>
            <a:srgbClr val="307D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640080" y="5989320"/>
            <a:ext cx="1828800" cy="1828800"/>
          </a:xfrm>
          <a:prstGeom prst="ellipse">
            <a:avLst/>
          </a:prstGeom>
          <a:solidFill>
            <a:srgbClr val="4D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9738360" y="256032"/>
            <a:ext cx="502920" cy="228600"/>
          </a:xfrm>
          <a:prstGeom prst="line">
            <a:avLst/>
          </a:prstGeom>
          <a:ln w="10160">
            <a:solidFill>
              <a:srgbClr val="4DB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10241280" y="256032"/>
            <a:ext cx="502920" cy="228600"/>
          </a:xfrm>
          <a:prstGeom prst="line">
            <a:avLst/>
          </a:prstGeom>
          <a:ln w="10160">
            <a:solidFill>
              <a:srgbClr val="4DB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10451592" y="256032"/>
            <a:ext cx="292608" cy="457200"/>
          </a:xfrm>
          <a:prstGeom prst="line">
            <a:avLst/>
          </a:prstGeom>
          <a:ln w="10160">
            <a:solidFill>
              <a:srgbClr val="4DB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9697212" y="214884"/>
            <a:ext cx="82296" cy="82296"/>
          </a:xfrm>
          <a:prstGeom prst="ellipse">
            <a:avLst/>
          </a:prstGeom>
          <a:solidFill>
            <a:srgbClr val="4D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200132" y="443484"/>
            <a:ext cx="82296" cy="82296"/>
          </a:xfrm>
          <a:prstGeom prst="ellipse">
            <a:avLst/>
          </a:prstGeom>
          <a:solidFill>
            <a:srgbClr val="4D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703052" y="214884"/>
            <a:ext cx="82296" cy="82296"/>
          </a:xfrm>
          <a:prstGeom prst="ellipse">
            <a:avLst/>
          </a:prstGeom>
          <a:solidFill>
            <a:srgbClr val="4D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410444" y="672084"/>
            <a:ext cx="82296" cy="82296"/>
          </a:xfrm>
          <a:prstGeom prst="ellipse">
            <a:avLst/>
          </a:prstGeom>
          <a:solidFill>
            <a:srgbClr val="4D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594360" y="6446520"/>
            <a:ext cx="1417320" cy="0"/>
          </a:xfrm>
          <a:prstGeom prst="line">
            <a:avLst/>
          </a:prstGeom>
          <a:ln w="8890">
            <a:solidFill>
              <a:srgbClr val="4DB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103120" y="6382512"/>
            <a:ext cx="27432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42337"/>
                </a:solidFill>
                <a:latin typeface="Aptos"/>
              </a:rPr>
              <a:t>AZURE FIREWALL • EGRESS FILTERING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1400">
                <a:solidFill>
                  <a:srgbClr val="142337"/>
                </a:solidFill>
                <a:latin typeface="Aptos"/>
              </a:rPr>
              <a:t>Lessons Learned &amp; Future Enhancements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424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rPr sz="1400">
                <a:solidFill>
                  <a:srgbClr val="142337"/>
                </a:solidFill>
                <a:latin typeface="Aptos"/>
              </a:rPr>
              <a:t>Routing is as important as firewall rules — traffic must reach the firewall to be inspected.</a:t>
            </a:r>
          </a:p>
          <a:p>
            <a:pPr>
              <a:spcAft>
                <a:spcPts val="1000"/>
              </a:spcAft>
              <a:defRPr sz="1800"/>
            </a:pPr>
            <a:r>
              <a:rPr sz="1400">
                <a:solidFill>
                  <a:srgbClr val="142337"/>
                </a:solidFill>
                <a:latin typeface="Aptos"/>
              </a:rPr>
              <a:t>Firewall Policy makes centralized rule management easier.</a:t>
            </a:r>
          </a:p>
          <a:p>
            <a:pPr>
              <a:spcAft>
                <a:spcPts val="1000"/>
              </a:spcAft>
              <a:defRPr sz="1800"/>
            </a:pPr>
            <a:r>
              <a:rPr sz="1400">
                <a:solidFill>
                  <a:srgbClr val="142337"/>
                </a:solidFill>
                <a:latin typeface="Aptos"/>
              </a:rPr>
              <a:t>Logs are useful for troubleshooting and auditing.</a:t>
            </a:r>
          </a:p>
          <a:p>
            <a:pPr>
              <a:spcAft>
                <a:spcPts val="1000"/>
              </a:spcAft>
              <a:defRPr sz="1800"/>
            </a:pPr>
            <a:r>
              <a:rPr sz="1400">
                <a:solidFill>
                  <a:srgbClr val="142337"/>
                </a:solidFill>
                <a:latin typeface="Aptos"/>
              </a:rPr>
              <a:t>NSGs and Azure Firewall provide different layers of protection.</a:t>
            </a:r>
          </a:p>
          <a:p>
            <a:pPr>
              <a:spcAft>
                <a:spcPts val="1000"/>
              </a:spcAft>
              <a:defRPr sz="1800"/>
            </a:pPr>
            <a:r>
              <a:rPr sz="1400">
                <a:solidFill>
                  <a:srgbClr val="142337"/>
                </a:solidFill>
                <a:latin typeface="Aptos"/>
              </a:rPr>
              <a:t>Future: Azure Firewall Premium for advanced features when required.</a:t>
            </a:r>
          </a:p>
          <a:p>
            <a:pPr>
              <a:spcAft>
                <a:spcPts val="1000"/>
              </a:spcAft>
              <a:defRPr sz="1800"/>
            </a:pPr>
            <a:r>
              <a:rPr sz="1400">
                <a:solidFill>
                  <a:srgbClr val="142337"/>
                </a:solidFill>
                <a:latin typeface="Aptos"/>
              </a:rPr>
              <a:t>Future: Microsoft Sentinel integration, Bicep/ARM/Terraform automation and automated rule tests.</a:t>
            </a:r>
          </a:p>
          <a:p>
            <a:pPr>
              <a:spcAft>
                <a:spcPts val="1000"/>
              </a:spcAft>
              <a:defRPr sz="1800"/>
            </a:pPr>
            <a:r>
              <a:rPr sz="1400">
                <a:solidFill>
                  <a:srgbClr val="142337"/>
                </a:solidFill>
                <a:latin typeface="Aptos"/>
              </a:rPr>
              <a:t>Future: production hub-and-spoke or secured virtual hub design.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/>
            </a:pPr>
            <a:r>
              <a:rPr sz="1400">
                <a:solidFill>
                  <a:srgbClr val="142337"/>
                </a:solidFill>
                <a:latin typeface="Aptos"/>
              </a:rPr>
              <a:t>Presented by: KOLETI KUNDHANA SIRI</a:t>
            </a:r>
          </a:p>
        </p:txBody>
      </p:sp>
      <p:sp>
        <p:nvSpPr>
          <p:cNvPr id="5" name="Oval 4"/>
          <p:cNvSpPr/>
          <p:nvPr/>
        </p:nvSpPr>
        <p:spPr>
          <a:xfrm>
            <a:off x="10424160" y="-594360"/>
            <a:ext cx="2194560" cy="2194560"/>
          </a:xfrm>
          <a:prstGeom prst="ellipse">
            <a:avLst/>
          </a:prstGeom>
          <a:solidFill>
            <a:srgbClr val="307D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640080" y="5989320"/>
            <a:ext cx="1828800" cy="1828800"/>
          </a:xfrm>
          <a:prstGeom prst="ellipse">
            <a:avLst/>
          </a:prstGeom>
          <a:solidFill>
            <a:srgbClr val="4D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9738360" y="256032"/>
            <a:ext cx="502920" cy="228600"/>
          </a:xfrm>
          <a:prstGeom prst="line">
            <a:avLst/>
          </a:prstGeom>
          <a:ln w="10160">
            <a:solidFill>
              <a:srgbClr val="4DB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10241280" y="256032"/>
            <a:ext cx="502920" cy="228600"/>
          </a:xfrm>
          <a:prstGeom prst="line">
            <a:avLst/>
          </a:prstGeom>
          <a:ln w="10160">
            <a:solidFill>
              <a:srgbClr val="4DB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10451592" y="256032"/>
            <a:ext cx="292608" cy="457200"/>
          </a:xfrm>
          <a:prstGeom prst="line">
            <a:avLst/>
          </a:prstGeom>
          <a:ln w="10160">
            <a:solidFill>
              <a:srgbClr val="4DB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9697212" y="214884"/>
            <a:ext cx="82296" cy="82296"/>
          </a:xfrm>
          <a:prstGeom prst="ellipse">
            <a:avLst/>
          </a:prstGeom>
          <a:solidFill>
            <a:srgbClr val="4D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200132" y="443484"/>
            <a:ext cx="82296" cy="82296"/>
          </a:xfrm>
          <a:prstGeom prst="ellipse">
            <a:avLst/>
          </a:prstGeom>
          <a:solidFill>
            <a:srgbClr val="4D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703052" y="214884"/>
            <a:ext cx="82296" cy="82296"/>
          </a:xfrm>
          <a:prstGeom prst="ellipse">
            <a:avLst/>
          </a:prstGeom>
          <a:solidFill>
            <a:srgbClr val="4D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410444" y="672084"/>
            <a:ext cx="82296" cy="82296"/>
          </a:xfrm>
          <a:prstGeom prst="ellipse">
            <a:avLst/>
          </a:prstGeom>
          <a:solidFill>
            <a:srgbClr val="4D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594360" y="6446520"/>
            <a:ext cx="1417320" cy="0"/>
          </a:xfrm>
          <a:prstGeom prst="line">
            <a:avLst/>
          </a:prstGeom>
          <a:ln w="8890">
            <a:solidFill>
              <a:srgbClr val="4DB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103120" y="6382512"/>
            <a:ext cx="27432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42337"/>
                </a:solidFill>
                <a:latin typeface="Aptos"/>
              </a:rPr>
              <a:t>AZURE FIREWALL • EGRESS FILTERING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1400">
                <a:solidFill>
                  <a:srgbClr val="142337"/>
                </a:solidFill>
                <a:latin typeface="Aptos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424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rPr sz="1400">
                <a:solidFill>
                  <a:srgbClr val="142337"/>
                </a:solidFill>
                <a:latin typeface="Aptos"/>
              </a:rPr>
              <a:t>Our solution sends outbound traffic through Azure Firewall.</a:t>
            </a:r>
          </a:p>
          <a:p>
            <a:pPr>
              <a:spcAft>
                <a:spcPts val="1000"/>
              </a:spcAft>
              <a:defRPr sz="1800"/>
            </a:pPr>
            <a:r>
              <a:rPr sz="1400">
                <a:solidFill>
                  <a:srgbClr val="142337"/>
                </a:solidFill>
                <a:latin typeface="Aptos"/>
              </a:rPr>
              <a:t>The firewall allows approved traffic and blocks unauthorized traffic.</a:t>
            </a:r>
          </a:p>
          <a:p>
            <a:pPr>
              <a:spcAft>
                <a:spcPts val="1000"/>
              </a:spcAft>
              <a:defRPr sz="1800"/>
            </a:pPr>
            <a:r>
              <a:rPr sz="1400">
                <a:solidFill>
                  <a:srgbClr val="142337"/>
                </a:solidFill>
                <a:latin typeface="Aptos"/>
              </a:rPr>
              <a:t>UDRs force workload Internet traffic through the inspection point.</a:t>
            </a:r>
          </a:p>
          <a:p>
            <a:pPr>
              <a:spcAft>
                <a:spcPts val="1000"/>
              </a:spcAft>
              <a:defRPr sz="1800"/>
            </a:pPr>
            <a:r>
              <a:rPr sz="1400">
                <a:solidFill>
                  <a:srgbClr val="142337"/>
                </a:solidFill>
                <a:latin typeface="Aptos"/>
              </a:rPr>
              <a:t>Firewall Policy provides a common rule set across workloads.</a:t>
            </a:r>
          </a:p>
          <a:p>
            <a:pPr>
              <a:spcAft>
                <a:spcPts val="1000"/>
              </a:spcAft>
              <a:defRPr sz="1800"/>
            </a:pPr>
            <a:r>
              <a:rPr sz="1400">
                <a:solidFill>
                  <a:srgbClr val="142337"/>
                </a:solidFill>
                <a:latin typeface="Aptos"/>
              </a:rPr>
              <a:t>Azure Monitor / Log Analytics provides operational and security visibility.</a:t>
            </a:r>
          </a:p>
          <a:p>
            <a:pPr>
              <a:spcAft>
                <a:spcPts val="1000"/>
              </a:spcAft>
              <a:defRPr sz="1800"/>
            </a:pPr>
            <a:r>
              <a:rPr sz="1400">
                <a:solidFill>
                  <a:srgbClr val="142337"/>
                </a:solidFill>
                <a:latin typeface="Aptos"/>
              </a:rPr>
              <a:t>The design can be extended from a student test environment to larger hub-and-spoke deployments.</a:t>
            </a:r>
          </a:p>
          <a:p>
            <a:pPr>
              <a:spcAft>
                <a:spcPts val="1000"/>
              </a:spcAft>
              <a:defRPr sz="1800"/>
            </a:pPr>
            <a:r>
              <a:rPr sz="1400">
                <a:solidFill>
                  <a:srgbClr val="142337"/>
                </a:solidFill>
                <a:latin typeface="Aptos"/>
              </a:rPr>
              <a:t>Secure • Centralized • Observable • Scalable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/>
            </a:pPr>
            <a:r>
              <a:rPr sz="1400">
                <a:solidFill>
                  <a:srgbClr val="142337"/>
                </a:solidFill>
                <a:latin typeface="Aptos"/>
              </a:rPr>
              <a:t>Presented by: KOLETI KUNDHANA SIRI</a:t>
            </a:r>
          </a:p>
        </p:txBody>
      </p:sp>
      <p:sp>
        <p:nvSpPr>
          <p:cNvPr id="5" name="Oval 4"/>
          <p:cNvSpPr/>
          <p:nvPr/>
        </p:nvSpPr>
        <p:spPr>
          <a:xfrm>
            <a:off x="10424160" y="-594360"/>
            <a:ext cx="2194560" cy="2194560"/>
          </a:xfrm>
          <a:prstGeom prst="ellipse">
            <a:avLst/>
          </a:prstGeom>
          <a:solidFill>
            <a:srgbClr val="307D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640080" y="5989320"/>
            <a:ext cx="1828800" cy="1828800"/>
          </a:xfrm>
          <a:prstGeom prst="ellipse">
            <a:avLst/>
          </a:prstGeom>
          <a:solidFill>
            <a:srgbClr val="4D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9738360" y="256032"/>
            <a:ext cx="502920" cy="228600"/>
          </a:xfrm>
          <a:prstGeom prst="line">
            <a:avLst/>
          </a:prstGeom>
          <a:ln w="10160">
            <a:solidFill>
              <a:srgbClr val="4DB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10241280" y="256032"/>
            <a:ext cx="502920" cy="228600"/>
          </a:xfrm>
          <a:prstGeom prst="line">
            <a:avLst/>
          </a:prstGeom>
          <a:ln w="10160">
            <a:solidFill>
              <a:srgbClr val="4DB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10451592" y="256032"/>
            <a:ext cx="292608" cy="457200"/>
          </a:xfrm>
          <a:prstGeom prst="line">
            <a:avLst/>
          </a:prstGeom>
          <a:ln w="10160">
            <a:solidFill>
              <a:srgbClr val="4DB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9697212" y="214884"/>
            <a:ext cx="82296" cy="82296"/>
          </a:xfrm>
          <a:prstGeom prst="ellipse">
            <a:avLst/>
          </a:prstGeom>
          <a:solidFill>
            <a:srgbClr val="4D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200132" y="443484"/>
            <a:ext cx="82296" cy="82296"/>
          </a:xfrm>
          <a:prstGeom prst="ellipse">
            <a:avLst/>
          </a:prstGeom>
          <a:solidFill>
            <a:srgbClr val="4D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703052" y="214884"/>
            <a:ext cx="82296" cy="82296"/>
          </a:xfrm>
          <a:prstGeom prst="ellipse">
            <a:avLst/>
          </a:prstGeom>
          <a:solidFill>
            <a:srgbClr val="4D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410444" y="672084"/>
            <a:ext cx="82296" cy="82296"/>
          </a:xfrm>
          <a:prstGeom prst="ellipse">
            <a:avLst/>
          </a:prstGeom>
          <a:solidFill>
            <a:srgbClr val="4D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594360" y="6446520"/>
            <a:ext cx="1417320" cy="0"/>
          </a:xfrm>
          <a:prstGeom prst="line">
            <a:avLst/>
          </a:prstGeom>
          <a:ln w="8890">
            <a:solidFill>
              <a:srgbClr val="4DB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103120" y="6382512"/>
            <a:ext cx="27432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" b="0">
                <a:solidFill>
                  <a:srgbClr val="142337"/>
                </a:solidFill>
                <a:latin typeface="Aptos"/>
              </a:rPr>
              <a:t>AZURE FIREWALL • EGRESS FILTERING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331720"/>
            <a:ext cx="8503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200" b="1">
                <a:solidFill>
                  <a:srgbClr val="142337"/>
                </a:solidFill>
                <a:latin typeface="Aptos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1775</Words>
  <Application>Microsoft Office PowerPoint</Application>
  <PresentationFormat>Widescreen</PresentationFormat>
  <Paragraphs>338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vinay</dc:creator>
  <cp:keywords/>
  <dc:description>generated using python-pptx</dc:description>
  <cp:lastModifiedBy>vinay ch</cp:lastModifiedBy>
  <cp:revision>3</cp:revision>
  <dcterms:created xsi:type="dcterms:W3CDTF">2013-01-27T09:14:16Z</dcterms:created>
  <dcterms:modified xsi:type="dcterms:W3CDTF">2026-09-26T14:22:39Z</dcterms:modified>
  <cp:category/>
</cp:coreProperties>
</file>